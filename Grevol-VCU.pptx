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8" r:id="rId6"/>
    <p:sldId id="269" r:id="rId7"/>
    <p:sldId id="260" r:id="rId8"/>
    <p:sldId id="261" r:id="rId9"/>
    <p:sldId id="272" r:id="rId10"/>
    <p:sldId id="262" r:id="rId11"/>
    <p:sldId id="271" r:id="rId12"/>
    <p:sldId id="273" r:id="rId13"/>
    <p:sldId id="264" r:id="rId14"/>
    <p:sldId id="265" r:id="rId15"/>
    <p:sldId id="266" r:id="rId16"/>
    <p:sldId id="267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FFCD-38B8-4D24-1B0B-659002117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774D4-216A-7096-A12F-9C0DAB8AF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10E1F-08FA-0A45-7BAD-D0BDD17F5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A3F18-1933-DC13-5047-2890A83B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D4704-7E73-2380-58C7-5620E2A5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24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EC6C-E5DB-0FBC-D872-24302095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103A9-FB3A-C386-1715-7B1D61DB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A27D8-4E03-C5FF-3DE0-9AD55833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DBA9A-1192-011C-3E0F-355073EF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674E4-DA53-A5FE-D033-5FA040EE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3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8E6A-CFD3-9509-4350-DAC7ACAE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D3299-3B16-B70F-040B-B20C30B8E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9F4EC-5C0F-66C4-F778-ED36A4B3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50BE8-D16D-D647-A5BC-6B23567F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28EF-B6F8-27B8-8802-DE121C4E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3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ED9D-AA17-C7BC-763A-3600D88A3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5A02-A5FD-F957-7F70-51C0EB023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F7CDF-8D25-7626-2729-DCCEE15DA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E7117-8792-348D-7351-32C20873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77B8B-24AA-FB34-F400-E4A38640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9849C-C98E-4827-AC0B-43EFDE20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80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1868-CDC4-613C-7CB6-B85AE64D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698B-CAA6-8EAC-5B9E-52C3EA652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0FCCE-1DAF-A719-D325-3C1541B85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0CE301-4C47-E3B4-2B82-7355EE1FB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E6D07-677A-FF32-F52F-4F18761FC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E244B-8667-531E-96FB-9C5EDA8F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01540-A269-95A6-9AA9-EDAC99A3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49CEA8-2048-ED98-61BE-432104B1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2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2E6B-2F07-E85E-A170-8136A4CA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6DC14-E548-59B1-8765-79BC7A2E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514B1-5FB7-8241-B8F3-EEDDFC87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218DD-03C4-E3A0-30AD-ED19C279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9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39DDA-4E7D-4584-0C7A-3FC59DB2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1E1AD-58CF-1361-4600-AC7F24B9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561C7-BA6B-240D-C398-4E7E3556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24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941A-1C45-F651-2C0E-BA8AEE9E2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6F0DF-3E65-7CA1-EC18-6F0277F80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E0BA2-4FAB-838F-27F3-4E29084B2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8884-8822-8BF8-1163-44B578CFF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05A0C-1627-5FD8-E7A2-EB4BCDD3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96140-7560-4C23-C577-DA7D3A15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39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0BDF-35CD-CB34-5A02-F711C8EC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6D17A-C70D-4A15-BD7C-29E3FA436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2406D-D348-8F70-430E-467439236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7A7A9-15A7-DA65-40D0-84D4793A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BF49E-DDFA-0353-3FC1-7140448C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42D8-0C8F-C94D-070D-A483AE73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46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E4F50-0D00-69CF-C066-88A11A98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AA1D7-139D-660A-4989-627A0DE8B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D15D9-960E-BA23-22F4-485671CB2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2D9CF-C26E-C0C5-AD32-E9D1E5A67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2B65-185F-CE75-3C00-8DA079B12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DB07A-5727-B5EC-A6DC-662D2777C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A9A4C-37FD-5734-2566-C11CAAF83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DB5ED-D186-E697-B7C9-6D9CBB92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B1EF6-1096-7F67-B8C7-14199ACE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DCFBF-D849-2E4E-6B1D-638263BC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0385A1-3801-C790-B7A9-18869D73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1F42-50F3-73B7-CEA9-38A7379B6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A04A3-9EB3-39C7-6975-D01A94BDB8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FB734-C584-46AC-AF3F-E173215E49FA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E5F4-D1A9-B72E-099E-6B68C1F2D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0FF7A-5A61-1DDB-CB67-543CAE205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21844-1DB2-4902-B94F-519D1F52E8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1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F30-6E6D-E65B-DDFD-A63D2EAB2F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Grevol</a:t>
            </a:r>
            <a:r>
              <a:rPr lang="en-IN" dirty="0"/>
              <a:t> VCU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4CEDC-F68D-6AA4-7873-7B39E55BF7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786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24586771-BFA4-7650-CD35-BDA84FAD26A1}"/>
              </a:ext>
            </a:extLst>
          </p:cNvPr>
          <p:cNvGrpSpPr/>
          <p:nvPr/>
        </p:nvGrpSpPr>
        <p:grpSpPr>
          <a:xfrm>
            <a:off x="452327" y="417471"/>
            <a:ext cx="10943092" cy="5680714"/>
            <a:chOff x="452327" y="417471"/>
            <a:chExt cx="10943092" cy="568071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FC28C8-B589-C627-1466-F929E86A0EEE}"/>
                </a:ext>
              </a:extLst>
            </p:cNvPr>
            <p:cNvSpPr/>
            <p:nvPr/>
          </p:nvSpPr>
          <p:spPr>
            <a:xfrm>
              <a:off x="5801194" y="2405061"/>
              <a:ext cx="2218544" cy="17618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Microcontroller</a:t>
              </a:r>
            </a:p>
            <a:p>
              <a:pPr algn="ctr"/>
              <a:r>
                <a:rPr lang="en-IN" dirty="0"/>
                <a:t>stm32g0b1cet6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F10D6B-F2B4-8DED-EBA2-80B462E82F3A}"/>
                </a:ext>
              </a:extLst>
            </p:cNvPr>
            <p:cNvSpPr/>
            <p:nvPr/>
          </p:nvSpPr>
          <p:spPr>
            <a:xfrm>
              <a:off x="8681804" y="995596"/>
              <a:ext cx="1556478" cy="8032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Serial Flash</a:t>
              </a:r>
            </a:p>
            <a:p>
              <a:pPr algn="ctr"/>
              <a:r>
                <a:rPr lang="en-IN" dirty="0"/>
                <a:t>w25q512</a:t>
              </a:r>
            </a:p>
          </p:txBody>
        </p: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7DF0FBA1-F03E-3DDA-998A-EE21CA391957}"/>
                </a:ext>
              </a:extLst>
            </p:cNvPr>
            <p:cNvCxnSpPr>
              <a:cxnSpLocks/>
              <a:stCxn id="4" idx="0"/>
              <a:endCxn id="5" idx="1"/>
            </p:cNvCxnSpPr>
            <p:nvPr/>
          </p:nvCxnSpPr>
          <p:spPr>
            <a:xfrm rot="5400000" flipH="1" flipV="1">
              <a:off x="7292209" y="1015466"/>
              <a:ext cx="1007853" cy="1771338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6F5A37-0164-EE26-296D-C692A2EE56A7}"/>
                </a:ext>
              </a:extLst>
            </p:cNvPr>
            <p:cNvSpPr txBox="1"/>
            <p:nvPr/>
          </p:nvSpPr>
          <p:spPr>
            <a:xfrm>
              <a:off x="7520066" y="1027875"/>
              <a:ext cx="6345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SPI</a:t>
              </a:r>
            </a:p>
          </p:txBody>
        </p: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AD03E754-D452-55DD-AFAD-7DD9007CF76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912564" y="3471673"/>
              <a:ext cx="2888631" cy="1"/>
            </a:xfrm>
            <a:prstGeom prst="bent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A68424-1295-E180-1FF3-0401D1E09930}"/>
                </a:ext>
              </a:extLst>
            </p:cNvPr>
            <p:cNvSpPr txBox="1"/>
            <p:nvPr/>
          </p:nvSpPr>
          <p:spPr>
            <a:xfrm>
              <a:off x="4413355" y="3520614"/>
              <a:ext cx="1156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CAN Bus</a:t>
              </a:r>
            </a:p>
          </p:txBody>
        </p: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69EA2FBA-3C4E-68FE-B04B-F9E4D131AE4F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rot="5400000">
              <a:off x="5943717" y="4489692"/>
              <a:ext cx="1289496" cy="644003"/>
            </a:xfrm>
            <a:prstGeom prst="bentConnector3">
              <a:avLst>
                <a:gd name="adj1" fmla="val 32563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023D9E-D6A7-6881-63A6-CBB75145A54E}"/>
                </a:ext>
              </a:extLst>
            </p:cNvPr>
            <p:cNvSpPr txBox="1"/>
            <p:nvPr/>
          </p:nvSpPr>
          <p:spPr>
            <a:xfrm>
              <a:off x="6904119" y="4563293"/>
              <a:ext cx="1156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UART</a:t>
              </a:r>
            </a:p>
          </p:txBody>
        </p: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7B8B0980-8713-EEFB-A584-28F7181EC23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009644" y="2593992"/>
              <a:ext cx="2978146" cy="1"/>
            </a:xfrm>
            <a:prstGeom prst="bentConnector3">
              <a:avLst>
                <a:gd name="adj1" fmla="val 50000"/>
              </a:avLst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F97E33D-BA56-DC43-3842-6CB1C6D73253}"/>
                </a:ext>
              </a:extLst>
            </p:cNvPr>
            <p:cNvSpPr txBox="1"/>
            <p:nvPr/>
          </p:nvSpPr>
          <p:spPr>
            <a:xfrm>
              <a:off x="8781737" y="2222367"/>
              <a:ext cx="1156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Analog In</a:t>
              </a: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37957D05-0B15-6E5E-CB45-9AD4300F0A9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009644" y="3197942"/>
              <a:ext cx="2978146" cy="1"/>
            </a:xfrm>
            <a:prstGeom prst="bentConnector3">
              <a:avLst>
                <a:gd name="adj1" fmla="val 50000"/>
              </a:avLst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D8970C6-8B50-80DB-EB0A-5D353E336FCA}"/>
                </a:ext>
              </a:extLst>
            </p:cNvPr>
            <p:cNvSpPr txBox="1"/>
            <p:nvPr/>
          </p:nvSpPr>
          <p:spPr>
            <a:xfrm>
              <a:off x="8781736" y="2824024"/>
              <a:ext cx="11567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Digital In</a:t>
              </a:r>
            </a:p>
          </p:txBody>
        </p: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5766C289-99AB-6D73-25F7-B99221A99285}"/>
                </a:ext>
              </a:extLst>
            </p:cNvPr>
            <p:cNvCxnSpPr>
              <a:cxnSpLocks/>
            </p:cNvCxnSpPr>
            <p:nvPr/>
          </p:nvCxnSpPr>
          <p:spPr>
            <a:xfrm>
              <a:off x="8060860" y="3535607"/>
              <a:ext cx="2926930" cy="12700"/>
            </a:xfrm>
            <a:prstGeom prst="bentConnector3">
              <a:avLst>
                <a:gd name="adj1" fmla="val 50000"/>
              </a:avLst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18B69E5-AF88-438E-FB9B-D9C84F7EB3FF}"/>
                </a:ext>
              </a:extLst>
            </p:cNvPr>
            <p:cNvSpPr txBox="1"/>
            <p:nvPr/>
          </p:nvSpPr>
          <p:spPr>
            <a:xfrm>
              <a:off x="8881672" y="3484177"/>
              <a:ext cx="1618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Digital Out</a:t>
              </a:r>
            </a:p>
          </p:txBody>
        </p: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AF0EAB5E-E384-8F29-0406-20EA03F5049C}"/>
                </a:ext>
              </a:extLst>
            </p:cNvPr>
            <p:cNvCxnSpPr>
              <a:cxnSpLocks/>
            </p:cNvCxnSpPr>
            <p:nvPr/>
          </p:nvCxnSpPr>
          <p:spPr>
            <a:xfrm>
              <a:off x="8047218" y="3957050"/>
              <a:ext cx="2940572" cy="19520"/>
            </a:xfrm>
            <a:prstGeom prst="bentConnector3">
              <a:avLst>
                <a:gd name="adj1" fmla="val 50000"/>
              </a:avLst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EBBDFB1-2CE5-CE8F-DA02-CF1A7CBF2449}"/>
                </a:ext>
              </a:extLst>
            </p:cNvPr>
            <p:cNvSpPr txBox="1"/>
            <p:nvPr/>
          </p:nvSpPr>
          <p:spPr>
            <a:xfrm>
              <a:off x="8844721" y="4025523"/>
              <a:ext cx="16189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PWM Out*</a:t>
              </a:r>
            </a:p>
          </p:txBody>
        </p:sp>
        <p:cxnSp>
          <p:nvCxnSpPr>
            <p:cNvPr id="2" name="Connector: Elbow 1">
              <a:extLst>
                <a:ext uri="{FF2B5EF4-FFF2-40B4-BE49-F238E27FC236}">
                  <a16:creationId xmlns:a16="http://schemas.microsoft.com/office/drawing/2014/main" id="{DD103A54-5674-8EC2-F164-7E452AF5CF5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275213" y="1281384"/>
              <a:ext cx="2411756" cy="683929"/>
            </a:xfrm>
            <a:prstGeom prst="bentConnector3">
              <a:avLst>
                <a:gd name="adj1" fmla="val 100967"/>
              </a:avLst>
            </a:prstGeom>
            <a:ln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BAD5FA-F77E-2DF8-7BDD-DC857BA29A93}"/>
                </a:ext>
              </a:extLst>
            </p:cNvPr>
            <p:cNvSpPr txBox="1"/>
            <p:nvPr/>
          </p:nvSpPr>
          <p:spPr>
            <a:xfrm>
              <a:off x="5139125" y="882677"/>
              <a:ext cx="984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Freq In*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455B09-113F-C990-E2B5-40989F59FD75}"/>
                </a:ext>
              </a:extLst>
            </p:cNvPr>
            <p:cNvSpPr/>
            <p:nvPr/>
          </p:nvSpPr>
          <p:spPr>
            <a:xfrm>
              <a:off x="3128205" y="5456440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r>
                <a:rPr lang="en-IN" dirty="0"/>
                <a:t>ell Monitoring Board 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6EAC1E-8171-1834-1DA9-D13A7C1B7496}"/>
                </a:ext>
              </a:extLst>
            </p:cNvPr>
            <p:cNvSpPr/>
            <p:nvPr/>
          </p:nvSpPr>
          <p:spPr>
            <a:xfrm>
              <a:off x="5259306" y="5456440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r>
                <a:rPr lang="en-IN" dirty="0"/>
                <a:t>ell Monitoring Board 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9B506E-1546-6D6B-4D3D-2C1A5943DF24}"/>
                </a:ext>
              </a:extLst>
            </p:cNvPr>
            <p:cNvSpPr/>
            <p:nvPr/>
          </p:nvSpPr>
          <p:spPr>
            <a:xfrm>
              <a:off x="7390407" y="5456440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r>
                <a:rPr lang="en-IN" dirty="0"/>
                <a:t>ell Monitoring Board 3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1F4AAF-2374-1BA1-E701-4076CE8569F5}"/>
                </a:ext>
              </a:extLst>
            </p:cNvPr>
            <p:cNvSpPr/>
            <p:nvPr/>
          </p:nvSpPr>
          <p:spPr>
            <a:xfrm>
              <a:off x="9531899" y="5456439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r>
                <a:rPr lang="en-IN" dirty="0"/>
                <a:t>ell Monitoring Board 4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F42C54F7-4A57-30C3-A202-58AA921AE467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 rot="10800000" flipV="1">
              <a:off x="4059965" y="4591110"/>
              <a:ext cx="2844154" cy="865330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788A9AC7-9646-861C-10A8-428C79B16A7F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rot="16200000" flipV="1">
              <a:off x="8259470" y="3252249"/>
              <a:ext cx="848840" cy="3559539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CB67A720-A6E2-DD63-1FF4-6321611058C4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6910466" y="4607597"/>
              <a:ext cx="1411701" cy="848843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731DFB0-F34F-D724-414D-346C9406C2AF}"/>
                </a:ext>
              </a:extLst>
            </p:cNvPr>
            <p:cNvSpPr/>
            <p:nvPr/>
          </p:nvSpPr>
          <p:spPr>
            <a:xfrm>
              <a:off x="3562662" y="783694"/>
              <a:ext cx="7120328" cy="4267770"/>
            </a:xfrm>
            <a:prstGeom prst="rect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n-US" dirty="0">
                  <a:solidFill>
                    <a:schemeClr val="accent1">
                      <a:lumMod val="50000"/>
                    </a:schemeClr>
                  </a:solidFill>
                </a:rPr>
                <a:t>VCU</a:t>
              </a:r>
              <a:endParaRPr lang="en-IN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39D1BEB-FADA-05E3-7A1C-372DB1AE6472}"/>
                </a:ext>
              </a:extLst>
            </p:cNvPr>
            <p:cNvSpPr/>
            <p:nvPr/>
          </p:nvSpPr>
          <p:spPr>
            <a:xfrm>
              <a:off x="452327" y="1599942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MCU</a:t>
              </a:r>
              <a:endParaRPr lang="en-IN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A71ADD3-A56D-5505-7958-9B29A78D390F}"/>
                </a:ext>
              </a:extLst>
            </p:cNvPr>
            <p:cNvSpPr/>
            <p:nvPr/>
          </p:nvSpPr>
          <p:spPr>
            <a:xfrm>
              <a:off x="452327" y="2687817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Instrument Cluster</a:t>
              </a:r>
              <a:endParaRPr lang="en-IN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BF51531-6DE0-7383-2850-F03C24A77BF6}"/>
                </a:ext>
              </a:extLst>
            </p:cNvPr>
            <p:cNvSpPr/>
            <p:nvPr/>
          </p:nvSpPr>
          <p:spPr>
            <a:xfrm>
              <a:off x="452327" y="3775692"/>
              <a:ext cx="1863520" cy="641745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Telematics</a:t>
              </a:r>
              <a:endParaRPr lang="en-IN" dirty="0"/>
            </a:p>
          </p:txBody>
        </p: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0249DDC1-87D1-FC4B-A5DF-A18AAB1E8EFE}"/>
                </a:ext>
              </a:extLst>
            </p:cNvPr>
            <p:cNvCxnSpPr>
              <a:cxnSpLocks/>
              <a:endCxn id="59" idx="3"/>
            </p:cNvCxnSpPr>
            <p:nvPr/>
          </p:nvCxnSpPr>
          <p:spPr>
            <a:xfrm rot="16200000" flipV="1">
              <a:off x="1852994" y="2383668"/>
              <a:ext cx="1563362" cy="637656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B8E9047D-10A3-7330-52EF-68CBE7E9C9E5}"/>
                </a:ext>
              </a:extLst>
            </p:cNvPr>
            <p:cNvCxnSpPr>
              <a:cxnSpLocks/>
              <a:endCxn id="63" idx="3"/>
            </p:cNvCxnSpPr>
            <p:nvPr/>
          </p:nvCxnSpPr>
          <p:spPr>
            <a:xfrm rot="5400000">
              <a:off x="2311723" y="3463295"/>
              <a:ext cx="637394" cy="629146"/>
            </a:xfrm>
            <a:prstGeom prst="bent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383AA854-034F-AC47-3F9A-0EF53A8242F9}"/>
                </a:ext>
              </a:extLst>
            </p:cNvPr>
            <p:cNvCxnSpPr>
              <a:cxnSpLocks/>
              <a:endCxn id="62" idx="3"/>
            </p:cNvCxnSpPr>
            <p:nvPr/>
          </p:nvCxnSpPr>
          <p:spPr>
            <a:xfrm rot="10800000" flipV="1">
              <a:off x="2315847" y="3008686"/>
              <a:ext cx="637656" cy="3"/>
            </a:xfrm>
            <a:prstGeom prst="bent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00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0832E-0E8B-DC21-649F-587401693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7" y="692787"/>
            <a:ext cx="3928672" cy="5472425"/>
          </a:xfrm>
        </p:spPr>
        <p:txBody>
          <a:bodyPr/>
          <a:lstStyle/>
          <a:p>
            <a:r>
              <a:rPr lang="en-IN" dirty="0"/>
              <a:t>Analog Inputs</a:t>
            </a:r>
          </a:p>
          <a:p>
            <a:pPr lvl="1"/>
            <a:r>
              <a:rPr lang="en-IN" dirty="0"/>
              <a:t>Throttle</a:t>
            </a:r>
          </a:p>
          <a:p>
            <a:pPr lvl="1"/>
            <a:r>
              <a:rPr lang="en-IN" dirty="0"/>
              <a:t>Leakage</a:t>
            </a:r>
          </a:p>
          <a:p>
            <a:pPr lvl="1"/>
            <a:r>
              <a:rPr lang="en-IN" dirty="0"/>
              <a:t>Supply Current</a:t>
            </a:r>
          </a:p>
          <a:p>
            <a:pPr lvl="1"/>
            <a:r>
              <a:rPr lang="en-IN" dirty="0"/>
              <a:t>Charge current</a:t>
            </a:r>
          </a:p>
          <a:p>
            <a:pPr lvl="1"/>
            <a:r>
              <a:rPr lang="en-IN" dirty="0"/>
              <a:t>Discharge current</a:t>
            </a:r>
          </a:p>
          <a:p>
            <a:pPr lvl="1"/>
            <a:r>
              <a:rPr lang="en-IN" dirty="0"/>
              <a:t>Supply voltage</a:t>
            </a:r>
          </a:p>
          <a:p>
            <a:pPr lvl="1"/>
            <a:r>
              <a:rPr lang="en-IN" dirty="0" err="1"/>
              <a:t>Dcdc</a:t>
            </a:r>
            <a:r>
              <a:rPr lang="en-IN" dirty="0"/>
              <a:t> converter voltage</a:t>
            </a:r>
          </a:p>
          <a:p>
            <a:pPr lvl="1"/>
            <a:r>
              <a:rPr lang="en-IN" dirty="0"/>
              <a:t>Load Voltage</a:t>
            </a:r>
          </a:p>
          <a:p>
            <a:pPr lvl="1"/>
            <a:r>
              <a:rPr lang="en-IN" dirty="0"/>
              <a:t>DC bus voltage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6FC27C-3F96-43F8-DCCD-19642C1DA753}"/>
              </a:ext>
            </a:extLst>
          </p:cNvPr>
          <p:cNvSpPr txBox="1">
            <a:spLocks/>
          </p:cNvSpPr>
          <p:nvPr/>
        </p:nvSpPr>
        <p:spPr>
          <a:xfrm>
            <a:off x="4586991" y="696026"/>
            <a:ext cx="3928672" cy="547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Digital Inputs</a:t>
            </a:r>
          </a:p>
          <a:p>
            <a:pPr lvl="1"/>
            <a:r>
              <a:rPr lang="en-IN" dirty="0"/>
              <a:t>Brake</a:t>
            </a:r>
          </a:p>
          <a:p>
            <a:pPr lvl="1"/>
            <a:r>
              <a:rPr lang="en-IN" dirty="0"/>
              <a:t>Charger connection</a:t>
            </a:r>
          </a:p>
          <a:p>
            <a:pPr lvl="1"/>
            <a:r>
              <a:rPr lang="en-IN" dirty="0"/>
              <a:t>Parking</a:t>
            </a:r>
          </a:p>
          <a:p>
            <a:pPr lvl="1"/>
            <a:r>
              <a:rPr lang="en-IN" dirty="0"/>
              <a:t>Ignition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CA891B-BDBA-ABA3-14CB-672FB29CEC4B}"/>
              </a:ext>
            </a:extLst>
          </p:cNvPr>
          <p:cNvSpPr txBox="1">
            <a:spLocks/>
          </p:cNvSpPr>
          <p:nvPr/>
        </p:nvSpPr>
        <p:spPr>
          <a:xfrm>
            <a:off x="8263328" y="696026"/>
            <a:ext cx="3928672" cy="5472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Digital Outputs</a:t>
            </a:r>
          </a:p>
          <a:p>
            <a:pPr lvl="1"/>
            <a:r>
              <a:rPr lang="en-IN" dirty="0"/>
              <a:t>Alarm</a:t>
            </a:r>
          </a:p>
          <a:p>
            <a:pPr lvl="1"/>
            <a:r>
              <a:rPr lang="en-IN" dirty="0"/>
              <a:t>Clutch</a:t>
            </a:r>
          </a:p>
          <a:p>
            <a:pPr lvl="1"/>
            <a:r>
              <a:rPr lang="en-IN" dirty="0"/>
              <a:t>Gear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306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6A0EAA-1C11-EEEA-293A-95AE2E30E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96474"/>
              </p:ext>
            </p:extLst>
          </p:nvPr>
        </p:nvGraphicFramePr>
        <p:xfrm>
          <a:off x="1792155" y="0"/>
          <a:ext cx="8026400" cy="768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0">
                  <a:extLst>
                    <a:ext uri="{9D8B030D-6E8A-4147-A177-3AD203B41FA5}">
                      <a16:colId xmlns:a16="http://schemas.microsoft.com/office/drawing/2014/main" val="2867988768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552241651"/>
                    </a:ext>
                  </a:extLst>
                </a:gridCol>
              </a:tblGrid>
              <a:tr h="258743">
                <a:tc>
                  <a:txBody>
                    <a:bodyPr/>
                    <a:lstStyle/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37736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89301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Vbs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08308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Vls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216568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Fire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29337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Dcon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181511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Sdr1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289448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2070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072537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Pa9/pa10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Uart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12768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Pc6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Brkre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56567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Cont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11493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Dirc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681181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83706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Brak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0476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Tac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6345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Pd0/pd1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118497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Clut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90247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Nss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63078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Trc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87457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77611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Disi – </a:t>
                      </a:r>
                      <a:r>
                        <a:rPr lang="en-IN" sz="1200" dirty="0" err="1"/>
                        <a:t>curr</a:t>
                      </a:r>
                      <a:r>
                        <a:rPr lang="en-IN" sz="1200" dirty="0"/>
                        <a:t> sense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2493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Ci – </a:t>
                      </a:r>
                      <a:r>
                        <a:rPr lang="en-IN" sz="1200" dirty="0" err="1"/>
                        <a:t>curr</a:t>
                      </a:r>
                      <a:r>
                        <a:rPr lang="en-IN" sz="1200" dirty="0"/>
                        <a:t> sense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3912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Pb0/pb2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Ad9/ad10 – LEAKAGE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69597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AD7 – supply </a:t>
                      </a:r>
                      <a:r>
                        <a:rPr lang="en-IN" sz="1200" dirty="0" err="1"/>
                        <a:t>curr</a:t>
                      </a:r>
                      <a:r>
                        <a:rPr lang="en-IN" sz="1200" dirty="0"/>
                        <a:t> sense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2486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Ad5- throttle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21568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Ad6-dcdc voltage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3416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IN" sz="1200" dirty="0"/>
                        <a:t>Pa7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/>
                        <a:t>Ad8-supply voltage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99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56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B3AD4DA-D36C-19F4-A129-5104E592B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336612"/>
              </p:ext>
            </p:extLst>
          </p:nvPr>
        </p:nvGraphicFramePr>
        <p:xfrm>
          <a:off x="374754" y="373255"/>
          <a:ext cx="5261547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031">
                  <a:extLst>
                    <a:ext uri="{9D8B030D-6E8A-4147-A177-3AD203B41FA5}">
                      <a16:colId xmlns:a16="http://schemas.microsoft.com/office/drawing/2014/main" val="1608177303"/>
                    </a:ext>
                  </a:extLst>
                </a:gridCol>
                <a:gridCol w="2142992">
                  <a:extLst>
                    <a:ext uri="{9D8B030D-6E8A-4147-A177-3AD203B41FA5}">
                      <a16:colId xmlns:a16="http://schemas.microsoft.com/office/drawing/2014/main" val="2085434839"/>
                    </a:ext>
                  </a:extLst>
                </a:gridCol>
                <a:gridCol w="2252524">
                  <a:extLst>
                    <a:ext uri="{9D8B030D-6E8A-4147-A177-3AD203B41FA5}">
                      <a16:colId xmlns:a16="http://schemas.microsoft.com/office/drawing/2014/main" val="1997124189"/>
                    </a:ext>
                  </a:extLst>
                </a:gridCol>
              </a:tblGrid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UC Pin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Signal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27739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Brak- brake pressed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7202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Ing – ignition 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1385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Dirc</a:t>
                      </a:r>
                      <a:r>
                        <a:rPr lang="en-US" sz="1600" dirty="0"/>
                        <a:t> – drive direction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2449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Cont</a:t>
                      </a:r>
                      <a:r>
                        <a:rPr lang="en-US" sz="1600" dirty="0"/>
                        <a:t>-contactor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6693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Urx</a:t>
                      </a:r>
                      <a:r>
                        <a:rPr lang="en-US" sz="1600" dirty="0"/>
                        <a:t> – </a:t>
                      </a:r>
                      <a:r>
                        <a:rPr lang="en-US" sz="1600" dirty="0" err="1"/>
                        <a:t>uart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rx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UART RX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24626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PC7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Park – parking 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7602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PC6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brkre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– braking resistor out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GPOut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91056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PA9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Utx</a:t>
                      </a:r>
                      <a:r>
                        <a:rPr lang="en-US" sz="1600" dirty="0"/>
                        <a:t> – </a:t>
                      </a:r>
                      <a:r>
                        <a:rPr lang="en-US" sz="1600" dirty="0" err="1"/>
                        <a:t>uart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tx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UART TX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6385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PA8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F3-fan 3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7362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Adio-buzzer out </a:t>
                      </a:r>
                      <a:r>
                        <a:rPr lang="en-US" sz="1600" dirty="0" err="1"/>
                        <a:t>pwm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PWM 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71201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Son-24W supply ctrl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2180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Sdr1-7W supply ctrl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943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B2F00E-B25C-A6BD-AB22-1EBE15D79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831350"/>
              </p:ext>
            </p:extLst>
          </p:nvPr>
        </p:nvGraphicFramePr>
        <p:xfrm>
          <a:off x="6096000" y="373255"/>
          <a:ext cx="4636958" cy="53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292">
                  <a:extLst>
                    <a:ext uri="{9D8B030D-6E8A-4147-A177-3AD203B41FA5}">
                      <a16:colId xmlns:a16="http://schemas.microsoft.com/office/drawing/2014/main" val="1608177303"/>
                    </a:ext>
                  </a:extLst>
                </a:gridCol>
                <a:gridCol w="1914333">
                  <a:extLst>
                    <a:ext uri="{9D8B030D-6E8A-4147-A177-3AD203B41FA5}">
                      <a16:colId xmlns:a16="http://schemas.microsoft.com/office/drawing/2014/main" val="2085434839"/>
                    </a:ext>
                  </a:extLst>
                </a:gridCol>
                <a:gridCol w="1914333">
                  <a:extLst>
                    <a:ext uri="{9D8B030D-6E8A-4147-A177-3AD203B41FA5}">
                      <a16:colId xmlns:a16="http://schemas.microsoft.com/office/drawing/2014/main" val="2298715663"/>
                    </a:ext>
                  </a:extLst>
                </a:gridCol>
              </a:tblGrid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UC Pin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Signal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Type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27739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Dcon</a:t>
                      </a:r>
                      <a:r>
                        <a:rPr lang="en-US" sz="1600" dirty="0"/>
                        <a:t> – DC-DC 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7202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Gr01 – gear out1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1385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Gr02 - gear out 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2449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AD10 – leakage LL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6693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Fire – fire alarm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24626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AD9 – leakage HL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7602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PA7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AD8 – 12v supply v sense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91056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AD7 – batt internal current – 20A max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6385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AD6 – </a:t>
                      </a:r>
                      <a:r>
                        <a:rPr lang="en-US" sz="1600" dirty="0" err="1"/>
                        <a:t>dcdc</a:t>
                      </a:r>
                      <a:r>
                        <a:rPr lang="en-US" sz="1600" dirty="0"/>
                        <a:t> con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7362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Ad5 – throttle 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71201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 – charging current (400A)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2180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Disi – discharging </a:t>
                      </a:r>
                      <a:r>
                        <a:rPr lang="en-US" sz="1600" dirty="0" err="1"/>
                        <a:t>curr</a:t>
                      </a:r>
                      <a:r>
                        <a:rPr lang="en-US" sz="1600" dirty="0"/>
                        <a:t> (400A)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43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BF6522-BA16-B1C6-E8FC-88E9C1437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728182"/>
              </p:ext>
            </p:extLst>
          </p:nvPr>
        </p:nvGraphicFramePr>
        <p:xfrm>
          <a:off x="959370" y="493176"/>
          <a:ext cx="513662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443">
                  <a:extLst>
                    <a:ext uri="{9D8B030D-6E8A-4147-A177-3AD203B41FA5}">
                      <a16:colId xmlns:a16="http://schemas.microsoft.com/office/drawing/2014/main" val="1608177303"/>
                    </a:ext>
                  </a:extLst>
                </a:gridCol>
                <a:gridCol w="2130093">
                  <a:extLst>
                    <a:ext uri="{9D8B030D-6E8A-4147-A177-3AD203B41FA5}">
                      <a16:colId xmlns:a16="http://schemas.microsoft.com/office/drawing/2014/main" val="2085434839"/>
                    </a:ext>
                  </a:extLst>
                </a:gridCol>
                <a:gridCol w="2130093">
                  <a:extLst>
                    <a:ext uri="{9D8B030D-6E8A-4147-A177-3AD203B41FA5}">
                      <a16:colId xmlns:a16="http://schemas.microsoft.com/office/drawing/2014/main" val="992516224"/>
                    </a:ext>
                  </a:extLst>
                </a:gridCol>
              </a:tblGrid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UC Pin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Signal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Type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27739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PC13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Pre- </a:t>
                      </a:r>
                      <a:r>
                        <a:rPr lang="en-US" sz="1600" dirty="0" err="1"/>
                        <a:t>precharge</a:t>
                      </a:r>
                      <a:r>
                        <a:rPr lang="en-US" sz="1600" dirty="0"/>
                        <a:t>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GP 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7202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PC14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OSCIn</a:t>
                      </a:r>
                      <a:r>
                        <a:rPr lang="en-US" sz="1600" dirty="0"/>
                        <a:t> 32khz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1385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PC15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OSCou</a:t>
                      </a:r>
                      <a:r>
                        <a:rPr lang="en-US" sz="1600" dirty="0"/>
                        <a:t> 32khz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2449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VBAT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6693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VRE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24626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VDD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7602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VSS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91056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PF0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F1- fan 1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6385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PF1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F2 – fan2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7362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PF2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nrst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71201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Vbs</a:t>
                      </a:r>
                      <a:r>
                        <a:rPr lang="en-US" sz="1600" dirty="0"/>
                        <a:t>-batt v before contactor(77.5V)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2180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Vls-battv</a:t>
                      </a:r>
                      <a:r>
                        <a:rPr lang="en-US" sz="1600" dirty="0"/>
                        <a:t> after contactor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ADC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943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9B109BC-FDF9-4612-5476-C63A22DE42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578484"/>
              </p:ext>
            </p:extLst>
          </p:nvPr>
        </p:nvGraphicFramePr>
        <p:xfrm>
          <a:off x="6370818" y="493176"/>
          <a:ext cx="5136627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443">
                  <a:extLst>
                    <a:ext uri="{9D8B030D-6E8A-4147-A177-3AD203B41FA5}">
                      <a16:colId xmlns:a16="http://schemas.microsoft.com/office/drawing/2014/main" val="1608177303"/>
                    </a:ext>
                  </a:extLst>
                </a:gridCol>
                <a:gridCol w="2130092">
                  <a:extLst>
                    <a:ext uri="{9D8B030D-6E8A-4147-A177-3AD203B41FA5}">
                      <a16:colId xmlns:a16="http://schemas.microsoft.com/office/drawing/2014/main" val="2085434839"/>
                    </a:ext>
                  </a:extLst>
                </a:gridCol>
                <a:gridCol w="2130092">
                  <a:extLst>
                    <a:ext uri="{9D8B030D-6E8A-4147-A177-3AD203B41FA5}">
                      <a16:colId xmlns:a16="http://schemas.microsoft.com/office/drawing/2014/main" val="1031204194"/>
                    </a:ext>
                  </a:extLst>
                </a:gridCol>
              </a:tblGrid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UC Pin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Signal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Type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27739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PB9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Grin2 – gear in?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GPIn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77202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PB8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Grin1 – gear in?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rgbClr val="FF0000"/>
                          </a:solidFill>
                        </a:rPr>
                        <a:t>GPIn</a:t>
                      </a:r>
                      <a:endParaRPr lang="en-IN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21385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PB7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Mode- </a:t>
                      </a:r>
                      <a:r>
                        <a:rPr lang="en-US" sz="1600" dirty="0" err="1"/>
                        <a:t>fwd</a:t>
                      </a:r>
                      <a:r>
                        <a:rPr lang="en-US" sz="1600" dirty="0"/>
                        <a:t>-rev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62449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PB6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TRC – </a:t>
                      </a:r>
                      <a:r>
                        <a:rPr lang="en-US" sz="1600" dirty="0" err="1"/>
                        <a:t>PWMOut</a:t>
                      </a:r>
                      <a:r>
                        <a:rPr lang="en-US" sz="1600" dirty="0"/>
                        <a:t> Throttle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PWM 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166930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MOSI- SFLASH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SPI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624626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MISO- SFLASH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SPI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47602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PB3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SCK- SFLASH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SPI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910563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PD3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NSS – SFLASH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63859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PD2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Clutch out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GPOut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7362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PD1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FDCTX– CAN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171201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PD0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FDCRX-CAN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CAN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321802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r>
                        <a:rPr lang="en-US" sz="1600" dirty="0"/>
                        <a:t>PA15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TAC – speed in/ Freq In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Freq In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49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4D22B-4074-5728-D7EA-6CC5990B6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5112895" cy="598107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MODULES</a:t>
            </a:r>
          </a:p>
          <a:p>
            <a:pPr lvl="1"/>
            <a:r>
              <a:rPr lang="en-IN" dirty="0"/>
              <a:t>Battery Management</a:t>
            </a:r>
          </a:p>
          <a:p>
            <a:pPr lvl="2"/>
            <a:r>
              <a:rPr lang="en-IN" dirty="0"/>
              <a:t>UART Communication with Battery monitor</a:t>
            </a:r>
          </a:p>
          <a:p>
            <a:pPr lvl="2"/>
            <a:r>
              <a:rPr lang="en-IN" dirty="0"/>
              <a:t>SOC</a:t>
            </a:r>
          </a:p>
          <a:p>
            <a:pPr lvl="2"/>
            <a:r>
              <a:rPr lang="en-IN" dirty="0"/>
              <a:t>DCL-CCL</a:t>
            </a:r>
          </a:p>
          <a:p>
            <a:pPr lvl="2"/>
            <a:r>
              <a:rPr lang="en-IN" dirty="0"/>
              <a:t>SOH</a:t>
            </a:r>
          </a:p>
          <a:p>
            <a:pPr lvl="2"/>
            <a:r>
              <a:rPr lang="en-IN" dirty="0"/>
              <a:t>Supervisory and Faults </a:t>
            </a:r>
          </a:p>
          <a:p>
            <a:pPr lvl="2"/>
            <a:r>
              <a:rPr lang="en-IN" dirty="0"/>
              <a:t>Charger Interface</a:t>
            </a:r>
          </a:p>
          <a:p>
            <a:pPr lvl="2"/>
            <a:r>
              <a:rPr lang="en-IN" dirty="0"/>
              <a:t>DC-DC monitoring</a:t>
            </a:r>
          </a:p>
          <a:p>
            <a:pPr lvl="1"/>
            <a:r>
              <a:rPr lang="en-IN" dirty="0"/>
              <a:t>VCU</a:t>
            </a:r>
          </a:p>
          <a:p>
            <a:pPr lvl="2"/>
            <a:r>
              <a:rPr lang="en-IN" dirty="0"/>
              <a:t>Vehicle Control (</a:t>
            </a:r>
            <a:r>
              <a:rPr lang="en-IN" dirty="0" err="1"/>
              <a:t>Tq</a:t>
            </a:r>
            <a:r>
              <a:rPr lang="en-IN" dirty="0"/>
              <a:t> demand to MCU)</a:t>
            </a:r>
          </a:p>
          <a:p>
            <a:pPr lvl="2"/>
            <a:r>
              <a:rPr lang="en-IN" dirty="0"/>
              <a:t>ODO tracking</a:t>
            </a:r>
          </a:p>
          <a:p>
            <a:pPr lvl="2"/>
            <a:r>
              <a:rPr lang="en-IN" dirty="0"/>
              <a:t>Supervisory and Faults</a:t>
            </a:r>
          </a:p>
          <a:p>
            <a:pPr lvl="2"/>
            <a:r>
              <a:rPr lang="en-IN" dirty="0"/>
              <a:t>UART/CAN communication with IoT</a:t>
            </a:r>
          </a:p>
          <a:p>
            <a:pPr lvl="2"/>
            <a:r>
              <a:rPr lang="en-IN" dirty="0"/>
              <a:t>Auto Gear control</a:t>
            </a:r>
          </a:p>
          <a:p>
            <a:pPr lvl="2"/>
            <a:r>
              <a:rPr lang="en-IN" dirty="0"/>
              <a:t>RTC</a:t>
            </a:r>
          </a:p>
          <a:p>
            <a:pPr lvl="2"/>
            <a:r>
              <a:rPr lang="en-IN" dirty="0"/>
              <a:t>Throttle override*</a:t>
            </a:r>
          </a:p>
          <a:p>
            <a:pPr lvl="1"/>
            <a:r>
              <a:rPr lang="en-IN" dirty="0"/>
              <a:t>Telematics</a:t>
            </a:r>
          </a:p>
          <a:p>
            <a:pPr lvl="2"/>
            <a:r>
              <a:rPr lang="en-IN" dirty="0"/>
              <a:t>Data Tx to server</a:t>
            </a:r>
          </a:p>
          <a:p>
            <a:pPr lvl="2"/>
            <a:r>
              <a:rPr lang="en-IN" dirty="0"/>
              <a:t>Data Rx from server</a:t>
            </a:r>
          </a:p>
          <a:p>
            <a:pPr lvl="1"/>
            <a:r>
              <a:rPr lang="en-IN" dirty="0"/>
              <a:t>Device Driver Interface</a:t>
            </a:r>
          </a:p>
          <a:p>
            <a:pPr lvl="2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CAN - Done</a:t>
            </a:r>
          </a:p>
          <a:p>
            <a:pPr lvl="2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UART - Done</a:t>
            </a:r>
          </a:p>
          <a:p>
            <a:pPr lvl="2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SPI (S-Flash) - Done</a:t>
            </a:r>
          </a:p>
          <a:p>
            <a:pPr lvl="2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ADC - Done</a:t>
            </a:r>
          </a:p>
          <a:p>
            <a:pPr lvl="2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DIO – Done</a:t>
            </a:r>
          </a:p>
          <a:p>
            <a:pPr lvl="2"/>
            <a:r>
              <a:rPr lang="en-IN" dirty="0"/>
              <a:t>Freq In</a:t>
            </a:r>
          </a:p>
          <a:p>
            <a:pPr lvl="2"/>
            <a:r>
              <a:rPr lang="en-IN" sz="2100" dirty="0">
                <a:solidFill>
                  <a:schemeClr val="accent6">
                    <a:lumMod val="75000"/>
                  </a:schemeClr>
                </a:solidFill>
              </a:rPr>
              <a:t>PWM Out - Done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380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F32923-998F-69AC-EF5C-13652AD27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43"/>
            <a:ext cx="5769339" cy="561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Battery Management State Machine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096E69A-FF57-6ABE-AF5C-88207D226C0F}"/>
              </a:ext>
            </a:extLst>
          </p:cNvPr>
          <p:cNvGrpSpPr/>
          <p:nvPr/>
        </p:nvGrpSpPr>
        <p:grpSpPr>
          <a:xfrm>
            <a:off x="1513773" y="53520"/>
            <a:ext cx="9861887" cy="6620871"/>
            <a:chOff x="1513773" y="53520"/>
            <a:chExt cx="9861887" cy="662087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E500521-FB1D-3C46-E247-F2564EE83A95}"/>
                </a:ext>
              </a:extLst>
            </p:cNvPr>
            <p:cNvSpPr/>
            <p:nvPr/>
          </p:nvSpPr>
          <p:spPr>
            <a:xfrm>
              <a:off x="5714165" y="395974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INIT/POST</a:t>
              </a:r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E4B5E8A-D1B7-910D-8C5F-2E45A8CEF092}"/>
                </a:ext>
              </a:extLst>
            </p:cNvPr>
            <p:cNvSpPr/>
            <p:nvPr/>
          </p:nvSpPr>
          <p:spPr>
            <a:xfrm>
              <a:off x="2945567" y="1309786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CHARGING</a:t>
              </a:r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7EF4493-D0FF-3ACB-9076-8A17206CAE53}"/>
                </a:ext>
              </a:extLst>
            </p:cNvPr>
            <p:cNvSpPr/>
            <p:nvPr/>
          </p:nvSpPr>
          <p:spPr>
            <a:xfrm>
              <a:off x="8656820" y="1445321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DRIVE</a:t>
              </a:r>
              <a:endParaRPr lang="en-IN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7EA2BD-4885-DD80-811B-55F6C696FF90}"/>
                </a:ext>
              </a:extLst>
            </p:cNvPr>
            <p:cNvSpPr/>
            <p:nvPr/>
          </p:nvSpPr>
          <p:spPr>
            <a:xfrm>
              <a:off x="2622862" y="4504824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FAULT RESET</a:t>
              </a:r>
              <a:endParaRPr lang="en-IN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86CE41-C0AC-BA5D-8B71-AD3375D0AD12}"/>
                </a:ext>
              </a:extLst>
            </p:cNvPr>
            <p:cNvSpPr/>
            <p:nvPr/>
          </p:nvSpPr>
          <p:spPr>
            <a:xfrm>
              <a:off x="2579556" y="590989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FAULT LATCH</a:t>
              </a:r>
              <a:endParaRPr lang="en-IN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A0180DB-DA4A-77CD-554E-512F24C7436A}"/>
                </a:ext>
              </a:extLst>
            </p:cNvPr>
            <p:cNvSpPr/>
            <p:nvPr/>
          </p:nvSpPr>
          <p:spPr>
            <a:xfrm>
              <a:off x="9172106" y="310173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IMMOBILIZE</a:t>
              </a:r>
              <a:endParaRPr lang="en-IN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97D1321-E11A-AD4F-02E5-5D25E665C7F0}"/>
                </a:ext>
              </a:extLst>
            </p:cNvPr>
            <p:cNvSpPr/>
            <p:nvPr/>
          </p:nvSpPr>
          <p:spPr>
            <a:xfrm>
              <a:off x="5507114" y="549874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DEEP DISCHARGE</a:t>
              </a:r>
              <a:endParaRPr lang="en-IN" dirty="0"/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40859BB3-4385-D6D0-1E70-E69ECF2C6729}"/>
                </a:ext>
              </a:extLst>
            </p:cNvPr>
            <p:cNvCxnSpPr>
              <a:cxnSpLocks/>
              <a:stCxn id="5" idx="4"/>
              <a:endCxn id="53" idx="0"/>
            </p:cNvCxnSpPr>
            <p:nvPr/>
          </p:nvCxnSpPr>
          <p:spPr>
            <a:xfrm rot="5400000">
              <a:off x="5963720" y="1980425"/>
              <a:ext cx="1672175" cy="3227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202FBF5-079D-731B-5654-2105303FEF50}"/>
                </a:ext>
              </a:extLst>
            </p:cNvPr>
            <p:cNvSpPr/>
            <p:nvPr/>
          </p:nvSpPr>
          <p:spPr>
            <a:xfrm>
              <a:off x="1843790" y="2913494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FAULT</a:t>
              </a:r>
              <a:endParaRPr lang="en-IN" dirty="0"/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31791C7A-AD42-EB0C-83D6-EC40496D33DE}"/>
                </a:ext>
              </a:extLst>
            </p:cNvPr>
            <p:cNvCxnSpPr>
              <a:cxnSpLocks/>
              <a:stCxn id="6" idx="2"/>
              <a:endCxn id="16" idx="1"/>
            </p:cNvCxnSpPr>
            <p:nvPr/>
          </p:nvCxnSpPr>
          <p:spPr>
            <a:xfrm rot="10800000" flipV="1">
              <a:off x="2166493" y="1692036"/>
              <a:ext cx="779074" cy="133341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F508AB55-A8D3-60FE-2ACF-6A549FE11CF8}"/>
                </a:ext>
              </a:extLst>
            </p:cNvPr>
            <p:cNvCxnSpPr>
              <a:cxnSpLocks/>
              <a:stCxn id="16" idx="4"/>
              <a:endCxn id="8" idx="0"/>
            </p:cNvCxnSpPr>
            <p:nvPr/>
          </p:nvCxnSpPr>
          <p:spPr>
            <a:xfrm rot="16200000" flipH="1">
              <a:off x="2921688" y="3701872"/>
              <a:ext cx="826831" cy="779072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1B99D1B-13B2-3A32-9C16-8B3379F927F4}"/>
                </a:ext>
              </a:extLst>
            </p:cNvPr>
            <p:cNvSpPr/>
            <p:nvPr/>
          </p:nvSpPr>
          <p:spPr>
            <a:xfrm>
              <a:off x="5681895" y="2832648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IDLE</a:t>
              </a:r>
              <a:endParaRPr lang="en-IN" dirty="0"/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E46C7C4D-70B9-6AA2-E0C0-FD505A1A6220}"/>
                </a:ext>
              </a:extLst>
            </p:cNvPr>
            <p:cNvCxnSpPr>
              <a:cxnSpLocks/>
              <a:stCxn id="16" idx="3"/>
              <a:endCxn id="9" idx="1"/>
            </p:cNvCxnSpPr>
            <p:nvPr/>
          </p:nvCxnSpPr>
          <p:spPr>
            <a:xfrm rot="16200000" flipH="1">
              <a:off x="1306469" y="4426059"/>
              <a:ext cx="2455815" cy="735766"/>
            </a:xfrm>
            <a:prstGeom prst="curvedConnector3">
              <a:avLst>
                <a:gd name="adj1" fmla="val 74416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: Elbow 25">
              <a:extLst>
                <a:ext uri="{FF2B5EF4-FFF2-40B4-BE49-F238E27FC236}">
                  <a16:creationId xmlns:a16="http://schemas.microsoft.com/office/drawing/2014/main" id="{FFBF11F8-7BCE-D052-8F2B-3743F27D3C41}"/>
                </a:ext>
              </a:extLst>
            </p:cNvPr>
            <p:cNvCxnSpPr>
              <a:cxnSpLocks/>
              <a:stCxn id="53" idx="4"/>
              <a:endCxn id="11" idx="0"/>
            </p:cNvCxnSpPr>
            <p:nvPr/>
          </p:nvCxnSpPr>
          <p:spPr>
            <a:xfrm rot="5400000">
              <a:off x="5745485" y="4460554"/>
              <a:ext cx="1901595" cy="174781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25">
              <a:extLst>
                <a:ext uri="{FF2B5EF4-FFF2-40B4-BE49-F238E27FC236}">
                  <a16:creationId xmlns:a16="http://schemas.microsoft.com/office/drawing/2014/main" id="{D9DD6DDE-D92E-C3FE-AE77-294A753C5347}"/>
                </a:ext>
              </a:extLst>
            </p:cNvPr>
            <p:cNvCxnSpPr>
              <a:cxnSpLocks/>
              <a:stCxn id="11" idx="1"/>
              <a:endCxn id="6" idx="4"/>
            </p:cNvCxnSpPr>
            <p:nvPr/>
          </p:nvCxnSpPr>
          <p:spPr>
            <a:xfrm rot="16200000" flipV="1">
              <a:off x="3170374" y="2951256"/>
              <a:ext cx="3536415" cy="178247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: Elbow 25">
              <a:extLst>
                <a:ext uri="{FF2B5EF4-FFF2-40B4-BE49-F238E27FC236}">
                  <a16:creationId xmlns:a16="http://schemas.microsoft.com/office/drawing/2014/main" id="{BDBA75FD-5275-F91C-2E44-BAF72C01172C}"/>
                </a:ext>
              </a:extLst>
            </p:cNvPr>
            <p:cNvCxnSpPr>
              <a:cxnSpLocks/>
              <a:stCxn id="53" idx="2"/>
              <a:endCxn id="6" idx="5"/>
            </p:cNvCxnSpPr>
            <p:nvPr/>
          </p:nvCxnSpPr>
          <p:spPr>
            <a:xfrm rot="10800000">
              <a:off x="4826419" y="1962328"/>
              <a:ext cx="855477" cy="1252571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Connector: Elbow 25">
              <a:extLst>
                <a:ext uri="{FF2B5EF4-FFF2-40B4-BE49-F238E27FC236}">
                  <a16:creationId xmlns:a16="http://schemas.microsoft.com/office/drawing/2014/main" id="{A66600AB-2582-4F60-A7E0-E56F256AEC5A}"/>
                </a:ext>
              </a:extLst>
            </p:cNvPr>
            <p:cNvCxnSpPr>
              <a:cxnSpLocks/>
              <a:stCxn id="6" idx="6"/>
              <a:endCxn id="53" idx="1"/>
            </p:cNvCxnSpPr>
            <p:nvPr/>
          </p:nvCxnSpPr>
          <p:spPr>
            <a:xfrm>
              <a:off x="5149121" y="1692036"/>
              <a:ext cx="855477" cy="1252570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or: Elbow 25">
              <a:extLst>
                <a:ext uri="{FF2B5EF4-FFF2-40B4-BE49-F238E27FC236}">
                  <a16:creationId xmlns:a16="http://schemas.microsoft.com/office/drawing/2014/main" id="{A7A4FF4F-A515-CD8D-C155-0287F02FCB21}"/>
                </a:ext>
              </a:extLst>
            </p:cNvPr>
            <p:cNvCxnSpPr>
              <a:cxnSpLocks/>
              <a:stCxn id="53" idx="6"/>
              <a:endCxn id="7" idx="4"/>
            </p:cNvCxnSpPr>
            <p:nvPr/>
          </p:nvCxnSpPr>
          <p:spPr>
            <a:xfrm flipV="1">
              <a:off x="7885449" y="2209820"/>
              <a:ext cx="1873148" cy="1005078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or: Elbow 25">
              <a:extLst>
                <a:ext uri="{FF2B5EF4-FFF2-40B4-BE49-F238E27FC236}">
                  <a16:creationId xmlns:a16="http://schemas.microsoft.com/office/drawing/2014/main" id="{0756E6C1-AEDE-DEE0-E2CE-0F9D15161D71}"/>
                </a:ext>
              </a:extLst>
            </p:cNvPr>
            <p:cNvCxnSpPr>
              <a:cxnSpLocks/>
              <a:stCxn id="7" idx="3"/>
              <a:endCxn id="53" idx="7"/>
            </p:cNvCxnSpPr>
            <p:nvPr/>
          </p:nvCxnSpPr>
          <p:spPr>
            <a:xfrm rot="5400000">
              <a:off x="7847763" y="1812846"/>
              <a:ext cx="846744" cy="141677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: Elbow 25">
              <a:extLst>
                <a:ext uri="{FF2B5EF4-FFF2-40B4-BE49-F238E27FC236}">
                  <a16:creationId xmlns:a16="http://schemas.microsoft.com/office/drawing/2014/main" id="{71728572-DC5A-70F7-1300-B39C045A16C5}"/>
                </a:ext>
              </a:extLst>
            </p:cNvPr>
            <p:cNvCxnSpPr>
              <a:cxnSpLocks/>
              <a:stCxn id="7" idx="2"/>
              <a:endCxn id="16" idx="7"/>
            </p:cNvCxnSpPr>
            <p:nvPr/>
          </p:nvCxnSpPr>
          <p:spPr>
            <a:xfrm rot="10800000" flipV="1">
              <a:off x="3724642" y="1827570"/>
              <a:ext cx="4932179" cy="1197881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: Elbow 25">
              <a:extLst>
                <a:ext uri="{FF2B5EF4-FFF2-40B4-BE49-F238E27FC236}">
                  <a16:creationId xmlns:a16="http://schemas.microsoft.com/office/drawing/2014/main" id="{FDA1AB91-C6AF-8FC6-5815-CB8C798D721F}"/>
                </a:ext>
              </a:extLst>
            </p:cNvPr>
            <p:cNvCxnSpPr>
              <a:cxnSpLocks/>
              <a:stCxn id="8" idx="6"/>
              <a:endCxn id="53" idx="3"/>
            </p:cNvCxnSpPr>
            <p:nvPr/>
          </p:nvCxnSpPr>
          <p:spPr>
            <a:xfrm flipV="1">
              <a:off x="4826416" y="3485189"/>
              <a:ext cx="1178182" cy="1401885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: Elbow 25">
              <a:extLst>
                <a:ext uri="{FF2B5EF4-FFF2-40B4-BE49-F238E27FC236}">
                  <a16:creationId xmlns:a16="http://schemas.microsoft.com/office/drawing/2014/main" id="{2E3F89A3-C638-CBF5-6E15-6E5317894399}"/>
                </a:ext>
              </a:extLst>
            </p:cNvPr>
            <p:cNvCxnSpPr>
              <a:cxnSpLocks/>
              <a:stCxn id="9" idx="2"/>
              <a:endCxn id="5" idx="2"/>
            </p:cNvCxnSpPr>
            <p:nvPr/>
          </p:nvCxnSpPr>
          <p:spPr>
            <a:xfrm rot="10800000" flipH="1">
              <a:off x="2579555" y="778224"/>
              <a:ext cx="3134609" cy="5513918"/>
            </a:xfrm>
            <a:prstGeom prst="curvedConnector3">
              <a:avLst>
                <a:gd name="adj1" fmla="val -4842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: Elbow 25">
              <a:extLst>
                <a:ext uri="{FF2B5EF4-FFF2-40B4-BE49-F238E27FC236}">
                  <a16:creationId xmlns:a16="http://schemas.microsoft.com/office/drawing/2014/main" id="{0609706A-AE51-E758-7D0A-9E40DF11239B}"/>
                </a:ext>
              </a:extLst>
            </p:cNvPr>
            <p:cNvCxnSpPr>
              <a:cxnSpLocks/>
              <a:stCxn id="53" idx="4"/>
              <a:endCxn id="10" idx="4"/>
            </p:cNvCxnSpPr>
            <p:nvPr/>
          </p:nvCxnSpPr>
          <p:spPr>
            <a:xfrm rot="16200000" flipH="1">
              <a:off x="8394235" y="1986583"/>
              <a:ext cx="269084" cy="3490211"/>
            </a:xfrm>
            <a:prstGeom prst="curvedConnector3">
              <a:avLst>
                <a:gd name="adj1" fmla="val 28523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: Elbow 25">
              <a:extLst>
                <a:ext uri="{FF2B5EF4-FFF2-40B4-BE49-F238E27FC236}">
                  <a16:creationId xmlns:a16="http://schemas.microsoft.com/office/drawing/2014/main" id="{3C9D5F4E-D429-1FE0-74B0-772CEFE33D5F}"/>
                </a:ext>
              </a:extLst>
            </p:cNvPr>
            <p:cNvCxnSpPr>
              <a:cxnSpLocks/>
              <a:stCxn id="10" idx="3"/>
              <a:endCxn id="53" idx="5"/>
            </p:cNvCxnSpPr>
            <p:nvPr/>
          </p:nvCxnSpPr>
          <p:spPr>
            <a:xfrm rot="5400000" flipH="1">
              <a:off x="8394236" y="2653700"/>
              <a:ext cx="269084" cy="1932063"/>
            </a:xfrm>
            <a:prstGeom prst="curvedConnector3">
              <a:avLst>
                <a:gd name="adj1" fmla="val -12656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: Elbow 14">
              <a:extLst>
                <a:ext uri="{FF2B5EF4-FFF2-40B4-BE49-F238E27FC236}">
                  <a16:creationId xmlns:a16="http://schemas.microsoft.com/office/drawing/2014/main" id="{F160CAD0-77BD-9ED9-17B3-697F6E4CB464}"/>
                </a:ext>
              </a:extLst>
            </p:cNvPr>
            <p:cNvCxnSpPr>
              <a:cxnSpLocks/>
              <a:stCxn id="5" idx="3"/>
              <a:endCxn id="16" idx="6"/>
            </p:cNvCxnSpPr>
            <p:nvPr/>
          </p:nvCxnSpPr>
          <p:spPr>
            <a:xfrm rot="5400000">
              <a:off x="3918492" y="1177367"/>
              <a:ext cx="2247229" cy="1989524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: Elbow 25">
              <a:extLst>
                <a:ext uri="{FF2B5EF4-FFF2-40B4-BE49-F238E27FC236}">
                  <a16:creationId xmlns:a16="http://schemas.microsoft.com/office/drawing/2014/main" id="{34E1911D-E264-BAE7-1FDB-750E4DC70DD8}"/>
                </a:ext>
              </a:extLst>
            </p:cNvPr>
            <p:cNvCxnSpPr>
              <a:cxnSpLocks/>
              <a:stCxn id="53" idx="2"/>
              <a:endCxn id="16" idx="5"/>
            </p:cNvCxnSpPr>
            <p:nvPr/>
          </p:nvCxnSpPr>
          <p:spPr>
            <a:xfrm rot="10800000" flipV="1">
              <a:off x="3724641" y="3214897"/>
              <a:ext cx="1957254" cy="351137"/>
            </a:xfrm>
            <a:prstGeom prst="curvedConnector4">
              <a:avLst>
                <a:gd name="adj1" fmla="val 18014"/>
                <a:gd name="adj2" fmla="val 19698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BE71971-E53D-E128-208C-B0338251E2A0}"/>
                </a:ext>
              </a:extLst>
            </p:cNvPr>
            <p:cNvSpPr/>
            <p:nvPr/>
          </p:nvSpPr>
          <p:spPr>
            <a:xfrm>
              <a:off x="7803107" y="4781466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SLEEP</a:t>
              </a:r>
              <a:endParaRPr lang="en-IN" dirty="0"/>
            </a:p>
          </p:txBody>
        </p:sp>
        <p:cxnSp>
          <p:nvCxnSpPr>
            <p:cNvPr id="172" name="Connector: Elbow 25">
              <a:extLst>
                <a:ext uri="{FF2B5EF4-FFF2-40B4-BE49-F238E27FC236}">
                  <a16:creationId xmlns:a16="http://schemas.microsoft.com/office/drawing/2014/main" id="{5BDF1AAB-1ED6-93C9-0CA8-C39262808C90}"/>
                </a:ext>
              </a:extLst>
            </p:cNvPr>
            <p:cNvCxnSpPr>
              <a:cxnSpLocks/>
              <a:stCxn id="53" idx="4"/>
              <a:endCxn id="167" idx="2"/>
            </p:cNvCxnSpPr>
            <p:nvPr/>
          </p:nvCxnSpPr>
          <p:spPr>
            <a:xfrm rot="16200000" flipH="1">
              <a:off x="6510105" y="3870713"/>
              <a:ext cx="1566569" cy="1019435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: Elbow 25">
              <a:extLst>
                <a:ext uri="{FF2B5EF4-FFF2-40B4-BE49-F238E27FC236}">
                  <a16:creationId xmlns:a16="http://schemas.microsoft.com/office/drawing/2014/main" id="{EC049132-A5EA-4953-537E-913861B60C07}"/>
                </a:ext>
              </a:extLst>
            </p:cNvPr>
            <p:cNvCxnSpPr>
              <a:cxnSpLocks/>
              <a:stCxn id="167" idx="1"/>
              <a:endCxn id="53" idx="5"/>
            </p:cNvCxnSpPr>
            <p:nvPr/>
          </p:nvCxnSpPr>
          <p:spPr>
            <a:xfrm rot="16200000" flipV="1">
              <a:off x="7140161" y="3907775"/>
              <a:ext cx="1408235" cy="56306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011D8CF-2A49-119B-603F-557E69A63708}"/>
                </a:ext>
              </a:extLst>
            </p:cNvPr>
            <p:cNvSpPr txBox="1"/>
            <p:nvPr/>
          </p:nvSpPr>
          <p:spPr>
            <a:xfrm>
              <a:off x="5558229" y="1190408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9D8E7A54-B1E4-5BEF-5AFA-8C8A539DEE5F}"/>
                </a:ext>
              </a:extLst>
            </p:cNvPr>
            <p:cNvSpPr txBox="1"/>
            <p:nvPr/>
          </p:nvSpPr>
          <p:spPr>
            <a:xfrm>
              <a:off x="5169842" y="2704843"/>
              <a:ext cx="65434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Charge </a:t>
              </a:r>
            </a:p>
            <a:p>
              <a:r>
                <a:rPr lang="en-US" sz="1100" dirty="0"/>
                <a:t>Detect</a:t>
              </a:r>
              <a:endParaRPr lang="en-IN" sz="1100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B9A720-96A6-080F-6BC8-E998D12FF66C}"/>
                </a:ext>
              </a:extLst>
            </p:cNvPr>
            <p:cNvSpPr txBox="1"/>
            <p:nvPr/>
          </p:nvSpPr>
          <p:spPr>
            <a:xfrm>
              <a:off x="5275242" y="3441360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78A783D9-C089-68A6-2BDA-AEB28A5EDEE2}"/>
                </a:ext>
              </a:extLst>
            </p:cNvPr>
            <p:cNvSpPr txBox="1"/>
            <p:nvPr/>
          </p:nvSpPr>
          <p:spPr>
            <a:xfrm>
              <a:off x="4855517" y="4887073"/>
              <a:ext cx="8531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 Clear</a:t>
              </a:r>
              <a:endParaRPr lang="en-IN" sz="1100" dirty="0"/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8A1E2FB-563D-EE0E-AF46-DB7EABE77D30}"/>
                </a:ext>
              </a:extLst>
            </p:cNvPr>
            <p:cNvSpPr txBox="1"/>
            <p:nvPr/>
          </p:nvSpPr>
          <p:spPr>
            <a:xfrm>
              <a:off x="1636726" y="3852283"/>
              <a:ext cx="11336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&gt; 3 times within</a:t>
              </a:r>
            </a:p>
            <a:p>
              <a:r>
                <a:rPr lang="en-US" sz="1100" dirty="0"/>
                <a:t>1 min</a:t>
              </a:r>
              <a:endParaRPr lang="en-IN" sz="110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9EC1FB77-24AA-99B8-B656-8EE520C74E0D}"/>
                </a:ext>
              </a:extLst>
            </p:cNvPr>
            <p:cNvSpPr txBox="1"/>
            <p:nvPr/>
          </p:nvSpPr>
          <p:spPr>
            <a:xfrm>
              <a:off x="2945150" y="3931944"/>
              <a:ext cx="11336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&lt; 3 times within</a:t>
              </a:r>
            </a:p>
            <a:p>
              <a:r>
                <a:rPr lang="en-US" sz="1100" dirty="0"/>
                <a:t>1 min</a:t>
              </a:r>
              <a:endParaRPr lang="en-IN" sz="1100" dirty="0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ED20F49-22E3-2AD8-C90C-E568149DDDEB}"/>
                </a:ext>
              </a:extLst>
            </p:cNvPr>
            <p:cNvSpPr txBox="1"/>
            <p:nvPr/>
          </p:nvSpPr>
          <p:spPr>
            <a:xfrm>
              <a:off x="6016227" y="4785751"/>
              <a:ext cx="102303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CellV</a:t>
              </a:r>
              <a:r>
                <a:rPr lang="en-US" sz="1100" dirty="0"/>
                <a:t> too Low</a:t>
              </a:r>
              <a:endParaRPr lang="en-IN" sz="11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8E0434B-E772-FAAC-1843-F233EC186941}"/>
                </a:ext>
              </a:extLst>
            </p:cNvPr>
            <p:cNvSpPr txBox="1"/>
            <p:nvPr/>
          </p:nvSpPr>
          <p:spPr>
            <a:xfrm>
              <a:off x="8026707" y="2811873"/>
              <a:ext cx="6671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Ignition </a:t>
              </a:r>
            </a:p>
            <a:p>
              <a:r>
                <a:rPr lang="en-US" sz="1100" dirty="0"/>
                <a:t>detect</a:t>
              </a:r>
              <a:endParaRPr lang="en-IN" sz="11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0BDF65E4-579B-1C9B-5FE8-8542AB66BBEC}"/>
                </a:ext>
              </a:extLst>
            </p:cNvPr>
            <p:cNvSpPr txBox="1"/>
            <p:nvPr/>
          </p:nvSpPr>
          <p:spPr>
            <a:xfrm>
              <a:off x="9683959" y="4186131"/>
              <a:ext cx="85953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Immobilize</a:t>
              </a:r>
            </a:p>
            <a:p>
              <a:r>
                <a:rPr lang="en-US" sz="1100" dirty="0"/>
                <a:t>signal</a:t>
              </a:r>
              <a:endParaRPr lang="en-IN" sz="1100" dirty="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D25F376C-4FE5-7A47-F1AC-43E882741262}"/>
                </a:ext>
              </a:extLst>
            </p:cNvPr>
            <p:cNvSpPr txBox="1"/>
            <p:nvPr/>
          </p:nvSpPr>
          <p:spPr>
            <a:xfrm>
              <a:off x="8199831" y="1507317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09FF64F-D456-D9BA-03FC-64F60D424731}"/>
                </a:ext>
              </a:extLst>
            </p:cNvPr>
            <p:cNvSpPr txBox="1"/>
            <p:nvPr/>
          </p:nvSpPr>
          <p:spPr>
            <a:xfrm>
              <a:off x="2458903" y="1851993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96F95A8C-BDF0-CFC9-286A-D923043709B4}"/>
                </a:ext>
              </a:extLst>
            </p:cNvPr>
            <p:cNvSpPr txBox="1"/>
            <p:nvPr/>
          </p:nvSpPr>
          <p:spPr>
            <a:xfrm>
              <a:off x="1513773" y="6263241"/>
              <a:ext cx="94128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Power Cycle</a:t>
              </a:r>
              <a:endParaRPr lang="en-IN" sz="110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8550CDD4-E0CA-1C3F-DE5F-0020C800057C}"/>
                </a:ext>
              </a:extLst>
            </p:cNvPr>
            <p:cNvSpPr txBox="1"/>
            <p:nvPr/>
          </p:nvSpPr>
          <p:spPr>
            <a:xfrm>
              <a:off x="7124567" y="4602226"/>
              <a:ext cx="65915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timeout</a:t>
              </a:r>
              <a:endParaRPr lang="en-IN" sz="1100" dirty="0"/>
            </a:p>
          </p:txBody>
        </p:sp>
        <p:cxnSp>
          <p:nvCxnSpPr>
            <p:cNvPr id="3" name="Connector: Elbow 25">
              <a:extLst>
                <a:ext uri="{FF2B5EF4-FFF2-40B4-BE49-F238E27FC236}">
                  <a16:creationId xmlns:a16="http://schemas.microsoft.com/office/drawing/2014/main" id="{2673FF36-F523-93AB-EE84-46384BAE5C2F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 rot="10800000" flipV="1">
              <a:off x="6815942" y="133278"/>
              <a:ext cx="746804" cy="26269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04C571A-DA9A-7AD5-A432-9FF7FC58AA17}"/>
                </a:ext>
              </a:extLst>
            </p:cNvPr>
            <p:cNvSpPr txBox="1"/>
            <p:nvPr/>
          </p:nvSpPr>
          <p:spPr>
            <a:xfrm>
              <a:off x="7710668" y="53520"/>
              <a:ext cx="15215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Ignition/charge detect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959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3106F-A608-A5D1-E4F6-61CD9191E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43"/>
            <a:ext cx="5769339" cy="561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Charging Sub-Modes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A5F0ABB-C8BD-FF1E-55A5-522248B4E032}"/>
              </a:ext>
            </a:extLst>
          </p:cNvPr>
          <p:cNvGrpSpPr/>
          <p:nvPr/>
        </p:nvGrpSpPr>
        <p:grpSpPr>
          <a:xfrm>
            <a:off x="1782892" y="1048211"/>
            <a:ext cx="7747427" cy="3310434"/>
            <a:chOff x="1782892" y="1048211"/>
            <a:chExt cx="7747427" cy="331043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5B600FD-5B26-232B-7DF4-137BD54FDC42}"/>
                </a:ext>
              </a:extLst>
            </p:cNvPr>
            <p:cNvSpPr/>
            <p:nvPr/>
          </p:nvSpPr>
          <p:spPr>
            <a:xfrm>
              <a:off x="1782892" y="2271406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IDLE</a:t>
              </a:r>
              <a:endParaRPr lang="en-IN" dirty="0"/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B078CBE6-B600-E3E7-5632-EED9FE2EAC30}"/>
                </a:ext>
              </a:extLst>
            </p:cNvPr>
            <p:cNvCxnSpPr>
              <a:cxnSpLocks/>
              <a:stCxn id="7" idx="0"/>
              <a:endCxn id="50" idx="2"/>
            </p:cNvCxnSpPr>
            <p:nvPr/>
          </p:nvCxnSpPr>
          <p:spPr>
            <a:xfrm rot="5400000" flipH="1" flipV="1">
              <a:off x="3355643" y="959488"/>
              <a:ext cx="840945" cy="17828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5102937-62A4-8A0C-46CE-39803A39BE77}"/>
                </a:ext>
              </a:extLst>
            </p:cNvPr>
            <p:cNvSpPr txBox="1"/>
            <p:nvPr/>
          </p:nvSpPr>
          <p:spPr>
            <a:xfrm>
              <a:off x="2041394" y="1850933"/>
              <a:ext cx="10016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Charger CAN received</a:t>
              </a:r>
              <a:endParaRPr lang="en-IN" sz="110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E99517A-8F93-5EA7-75E1-77CE86FFCEC1}"/>
                </a:ext>
              </a:extLst>
            </p:cNvPr>
            <p:cNvSpPr/>
            <p:nvPr/>
          </p:nvSpPr>
          <p:spPr>
            <a:xfrm>
              <a:off x="4667562" y="1048211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Charging CC</a:t>
              </a:r>
              <a:endParaRPr lang="en-IN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9363934-9C13-A564-E9E7-8297F43A6A84}"/>
                </a:ext>
              </a:extLst>
            </p:cNvPr>
            <p:cNvSpPr/>
            <p:nvPr/>
          </p:nvSpPr>
          <p:spPr>
            <a:xfrm>
              <a:off x="7326765" y="2271406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Charging CV</a:t>
              </a:r>
              <a:endParaRPr lang="en-IN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60B79B6-2F30-5DAE-FB81-45F6AB9AD33E}"/>
                </a:ext>
              </a:extLst>
            </p:cNvPr>
            <p:cNvSpPr/>
            <p:nvPr/>
          </p:nvSpPr>
          <p:spPr>
            <a:xfrm>
              <a:off x="4667562" y="3485188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End Of Charging</a:t>
              </a:r>
              <a:endParaRPr lang="en-IN" dirty="0"/>
            </a:p>
          </p:txBody>
        </p:sp>
        <p:cxnSp>
          <p:nvCxnSpPr>
            <p:cNvPr id="55" name="Connector: Elbow 25">
              <a:extLst>
                <a:ext uri="{FF2B5EF4-FFF2-40B4-BE49-F238E27FC236}">
                  <a16:creationId xmlns:a16="http://schemas.microsoft.com/office/drawing/2014/main" id="{B70E1E6C-9C22-719D-B029-88FF2ED72C29}"/>
                </a:ext>
              </a:extLst>
            </p:cNvPr>
            <p:cNvCxnSpPr>
              <a:cxnSpLocks/>
              <a:endCxn id="51" idx="0"/>
            </p:cNvCxnSpPr>
            <p:nvPr/>
          </p:nvCxnSpPr>
          <p:spPr>
            <a:xfrm>
              <a:off x="6625652" y="1430460"/>
              <a:ext cx="1802890" cy="84094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25">
              <a:extLst>
                <a:ext uri="{FF2B5EF4-FFF2-40B4-BE49-F238E27FC236}">
                  <a16:creationId xmlns:a16="http://schemas.microsoft.com/office/drawing/2014/main" id="{5C42A9B8-197C-71CF-773B-54F04235DFB8}"/>
                </a:ext>
              </a:extLst>
            </p:cNvPr>
            <p:cNvCxnSpPr>
              <a:cxnSpLocks/>
              <a:stCxn id="51" idx="4"/>
              <a:endCxn id="52" idx="6"/>
            </p:cNvCxnSpPr>
            <p:nvPr/>
          </p:nvCxnSpPr>
          <p:spPr>
            <a:xfrm rot="5400000">
              <a:off x="7234063" y="2672958"/>
              <a:ext cx="831533" cy="155742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25">
              <a:extLst>
                <a:ext uri="{FF2B5EF4-FFF2-40B4-BE49-F238E27FC236}">
                  <a16:creationId xmlns:a16="http://schemas.microsoft.com/office/drawing/2014/main" id="{0EC8F7C5-AB82-ABCC-52CE-105DA3AF901C}"/>
                </a:ext>
              </a:extLst>
            </p:cNvPr>
            <p:cNvCxnSpPr>
              <a:cxnSpLocks/>
              <a:stCxn id="52" idx="2"/>
              <a:endCxn id="7" idx="4"/>
            </p:cNvCxnSpPr>
            <p:nvPr/>
          </p:nvCxnSpPr>
          <p:spPr>
            <a:xfrm rot="10800000">
              <a:off x="2884670" y="3035906"/>
              <a:ext cx="1782893" cy="83153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7C20CD-3DF9-01DB-35DE-39EB7611350F}"/>
                </a:ext>
              </a:extLst>
            </p:cNvPr>
            <p:cNvSpPr txBox="1"/>
            <p:nvPr/>
          </p:nvSpPr>
          <p:spPr>
            <a:xfrm>
              <a:off x="7149024" y="1072256"/>
              <a:ext cx="12795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Batt V &gt; </a:t>
              </a:r>
              <a:r>
                <a:rPr lang="en-US" sz="1100" dirty="0" err="1"/>
                <a:t>xV</a:t>
              </a:r>
              <a:r>
                <a:rPr lang="en-US" sz="1100" dirty="0"/>
                <a:t> OR Cell V &gt; </a:t>
              </a:r>
              <a:r>
                <a:rPr lang="en-US" sz="1100" dirty="0" err="1"/>
                <a:t>xV</a:t>
              </a:r>
              <a:endParaRPr lang="en-I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1A480C3-1BC3-06A7-AA1D-8A92C844A6D7}"/>
                </a:ext>
              </a:extLst>
            </p:cNvPr>
            <p:cNvSpPr txBox="1"/>
            <p:nvPr/>
          </p:nvSpPr>
          <p:spPr>
            <a:xfrm>
              <a:off x="7649829" y="3758481"/>
              <a:ext cx="127951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Batt V &gt; </a:t>
              </a:r>
              <a:r>
                <a:rPr lang="en-US" sz="1100" dirty="0" err="1"/>
                <a:t>xV</a:t>
              </a:r>
              <a:r>
                <a:rPr lang="en-US" sz="1100" dirty="0"/>
                <a:t> AND Curr &lt; 10A OR Cell V &gt; </a:t>
              </a:r>
              <a:r>
                <a:rPr lang="en-US" sz="1100" dirty="0" err="1"/>
                <a:t>xV</a:t>
              </a:r>
              <a:endParaRPr lang="en-IN" sz="11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BCD19A3-9739-E1F3-AE6B-1966F6A72ADD}"/>
                </a:ext>
              </a:extLst>
            </p:cNvPr>
            <p:cNvSpPr txBox="1"/>
            <p:nvPr/>
          </p:nvSpPr>
          <p:spPr>
            <a:xfrm>
              <a:off x="3275310" y="3867437"/>
              <a:ext cx="10016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Charger CAN timeout</a:t>
              </a:r>
              <a:endParaRPr lang="en-IN" sz="1100" dirty="0"/>
            </a:p>
          </p:txBody>
        </p:sp>
        <p:cxnSp>
          <p:nvCxnSpPr>
            <p:cNvPr id="72" name="Connector: Elbow 25">
              <a:extLst>
                <a:ext uri="{FF2B5EF4-FFF2-40B4-BE49-F238E27FC236}">
                  <a16:creationId xmlns:a16="http://schemas.microsoft.com/office/drawing/2014/main" id="{C9858CDC-3A07-18D9-8464-8F6967846077}"/>
                </a:ext>
              </a:extLst>
            </p:cNvPr>
            <p:cNvCxnSpPr>
              <a:cxnSpLocks/>
              <a:stCxn id="50" idx="4"/>
              <a:endCxn id="7" idx="6"/>
            </p:cNvCxnSpPr>
            <p:nvPr/>
          </p:nvCxnSpPr>
          <p:spPr>
            <a:xfrm rot="5400000">
              <a:off x="4457420" y="1341737"/>
              <a:ext cx="840946" cy="1782893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25">
              <a:extLst>
                <a:ext uri="{FF2B5EF4-FFF2-40B4-BE49-F238E27FC236}">
                  <a16:creationId xmlns:a16="http://schemas.microsoft.com/office/drawing/2014/main" id="{20206804-B936-098C-0158-D520AC9F4E1C}"/>
                </a:ext>
              </a:extLst>
            </p:cNvPr>
            <p:cNvCxnSpPr>
              <a:cxnSpLocks/>
              <a:stCxn id="51" idx="2"/>
              <a:endCxn id="7" idx="6"/>
            </p:cNvCxnSpPr>
            <p:nvPr/>
          </p:nvCxnSpPr>
          <p:spPr>
            <a:xfrm rot="10800000">
              <a:off x="3986447" y="2653656"/>
              <a:ext cx="3340319" cy="1270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0819C19-5170-E869-22DE-978F52286713}"/>
                </a:ext>
              </a:extLst>
            </p:cNvPr>
            <p:cNvSpPr txBox="1"/>
            <p:nvPr/>
          </p:nvSpPr>
          <p:spPr>
            <a:xfrm>
              <a:off x="5368703" y="2192100"/>
              <a:ext cx="100160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Charger CAN timeout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324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C17B31-1225-86C9-8993-47C45E86A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43"/>
            <a:ext cx="5769339" cy="561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VCU State Machine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3AE803-683A-CD0B-7210-5756BDC3CEEC}"/>
              </a:ext>
            </a:extLst>
          </p:cNvPr>
          <p:cNvGrpSpPr/>
          <p:nvPr/>
        </p:nvGrpSpPr>
        <p:grpSpPr>
          <a:xfrm>
            <a:off x="1513773" y="53520"/>
            <a:ext cx="9613512" cy="6620871"/>
            <a:chOff x="1513773" y="53520"/>
            <a:chExt cx="9613512" cy="6620871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6442B8-D165-99E7-7186-00148B4321AD}"/>
                </a:ext>
              </a:extLst>
            </p:cNvPr>
            <p:cNvSpPr/>
            <p:nvPr/>
          </p:nvSpPr>
          <p:spPr>
            <a:xfrm>
              <a:off x="5714165" y="395974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INIT/POST</a:t>
              </a:r>
              <a:endParaRPr lang="en-IN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077CDF5-2F0B-D5BD-19A2-F18AB4CBDE9C}"/>
                </a:ext>
              </a:extLst>
            </p:cNvPr>
            <p:cNvSpPr/>
            <p:nvPr/>
          </p:nvSpPr>
          <p:spPr>
            <a:xfrm>
              <a:off x="2945567" y="1309786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DRIVE </a:t>
              </a:r>
              <a:endParaRPr lang="en-IN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573D05B-9E76-A168-C20F-A30197DC0300}"/>
                </a:ext>
              </a:extLst>
            </p:cNvPr>
            <p:cNvSpPr/>
            <p:nvPr/>
          </p:nvSpPr>
          <p:spPr>
            <a:xfrm>
              <a:off x="2622862" y="4504824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FAULT RESET</a:t>
              </a:r>
              <a:endParaRPr lang="en-IN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E906F58-BA58-CBE7-F493-58B2760FBB7B}"/>
                </a:ext>
              </a:extLst>
            </p:cNvPr>
            <p:cNvSpPr/>
            <p:nvPr/>
          </p:nvSpPr>
          <p:spPr>
            <a:xfrm>
              <a:off x="2579556" y="590989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FAULT LATCH</a:t>
              </a:r>
              <a:endParaRPr lang="en-IN" dirty="0"/>
            </a:p>
          </p:txBody>
        </p:sp>
        <p:cxnSp>
          <p:nvCxnSpPr>
            <p:cNvPr id="42" name="Connector: Elbow 14">
              <a:extLst>
                <a:ext uri="{FF2B5EF4-FFF2-40B4-BE49-F238E27FC236}">
                  <a16:creationId xmlns:a16="http://schemas.microsoft.com/office/drawing/2014/main" id="{5F4CBF58-D18F-FF1A-2298-E26F4B922E6C}"/>
                </a:ext>
              </a:extLst>
            </p:cNvPr>
            <p:cNvCxnSpPr>
              <a:cxnSpLocks/>
              <a:stCxn id="35" idx="4"/>
              <a:endCxn id="46" idx="0"/>
            </p:cNvCxnSpPr>
            <p:nvPr/>
          </p:nvCxnSpPr>
          <p:spPr>
            <a:xfrm rot="5400000">
              <a:off x="5963720" y="1980425"/>
              <a:ext cx="1672175" cy="3227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9C36A00-BA8B-A4A4-D5A8-5921512A125B}"/>
                </a:ext>
              </a:extLst>
            </p:cNvPr>
            <p:cNvSpPr/>
            <p:nvPr/>
          </p:nvSpPr>
          <p:spPr>
            <a:xfrm>
              <a:off x="1843790" y="2913494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FAULT</a:t>
              </a:r>
              <a:endParaRPr lang="en-IN" dirty="0"/>
            </a:p>
          </p:txBody>
        </p:sp>
        <p:cxnSp>
          <p:nvCxnSpPr>
            <p:cNvPr id="44" name="Connector: Elbow 16">
              <a:extLst>
                <a:ext uri="{FF2B5EF4-FFF2-40B4-BE49-F238E27FC236}">
                  <a16:creationId xmlns:a16="http://schemas.microsoft.com/office/drawing/2014/main" id="{7BCE92F0-D561-7016-A57E-4D8A2B06D6B9}"/>
                </a:ext>
              </a:extLst>
            </p:cNvPr>
            <p:cNvCxnSpPr>
              <a:cxnSpLocks/>
              <a:stCxn id="36" idx="3"/>
              <a:endCxn id="43" idx="0"/>
            </p:cNvCxnSpPr>
            <p:nvPr/>
          </p:nvCxnSpPr>
          <p:spPr>
            <a:xfrm rot="5400000">
              <a:off x="2631336" y="2276559"/>
              <a:ext cx="951167" cy="32270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30">
              <a:extLst>
                <a:ext uri="{FF2B5EF4-FFF2-40B4-BE49-F238E27FC236}">
                  <a16:creationId xmlns:a16="http://schemas.microsoft.com/office/drawing/2014/main" id="{E225090D-507D-9094-BF46-DFC57342A37F}"/>
                </a:ext>
              </a:extLst>
            </p:cNvPr>
            <p:cNvCxnSpPr>
              <a:cxnSpLocks/>
              <a:stCxn id="43" idx="4"/>
              <a:endCxn id="38" idx="0"/>
            </p:cNvCxnSpPr>
            <p:nvPr/>
          </p:nvCxnSpPr>
          <p:spPr>
            <a:xfrm rot="16200000" flipH="1">
              <a:off x="2921688" y="3701872"/>
              <a:ext cx="826831" cy="779072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67098BB-7F5B-D49D-DBA7-C9FA65A8DC39}"/>
                </a:ext>
              </a:extLst>
            </p:cNvPr>
            <p:cNvSpPr/>
            <p:nvPr/>
          </p:nvSpPr>
          <p:spPr>
            <a:xfrm>
              <a:off x="5681895" y="2832648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IDLE</a:t>
              </a:r>
              <a:endParaRPr lang="en-IN" dirty="0"/>
            </a:p>
          </p:txBody>
        </p:sp>
        <p:cxnSp>
          <p:nvCxnSpPr>
            <p:cNvPr id="47" name="Connector: Elbow 53">
              <a:extLst>
                <a:ext uri="{FF2B5EF4-FFF2-40B4-BE49-F238E27FC236}">
                  <a16:creationId xmlns:a16="http://schemas.microsoft.com/office/drawing/2014/main" id="{57F1290A-6F56-A063-CDD6-88C88C12B71A}"/>
                </a:ext>
              </a:extLst>
            </p:cNvPr>
            <p:cNvCxnSpPr>
              <a:cxnSpLocks/>
              <a:stCxn id="43" idx="3"/>
              <a:endCxn id="39" idx="1"/>
            </p:cNvCxnSpPr>
            <p:nvPr/>
          </p:nvCxnSpPr>
          <p:spPr>
            <a:xfrm rot="16200000" flipH="1">
              <a:off x="1306469" y="4426059"/>
              <a:ext cx="2455815" cy="735766"/>
            </a:xfrm>
            <a:prstGeom prst="curvedConnector3">
              <a:avLst>
                <a:gd name="adj1" fmla="val 7685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: Elbow 25">
              <a:extLst>
                <a:ext uri="{FF2B5EF4-FFF2-40B4-BE49-F238E27FC236}">
                  <a16:creationId xmlns:a16="http://schemas.microsoft.com/office/drawing/2014/main" id="{04F3BD0D-775B-B5FD-611B-033797606F28}"/>
                </a:ext>
              </a:extLst>
            </p:cNvPr>
            <p:cNvCxnSpPr>
              <a:cxnSpLocks/>
              <a:stCxn id="38" idx="6"/>
              <a:endCxn id="46" idx="3"/>
            </p:cNvCxnSpPr>
            <p:nvPr/>
          </p:nvCxnSpPr>
          <p:spPr>
            <a:xfrm flipV="1">
              <a:off x="4826416" y="3485189"/>
              <a:ext cx="1178182" cy="1401885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25">
              <a:extLst>
                <a:ext uri="{FF2B5EF4-FFF2-40B4-BE49-F238E27FC236}">
                  <a16:creationId xmlns:a16="http://schemas.microsoft.com/office/drawing/2014/main" id="{B2103E47-F09A-3D04-6406-3E1A803AC86F}"/>
                </a:ext>
              </a:extLst>
            </p:cNvPr>
            <p:cNvCxnSpPr>
              <a:cxnSpLocks/>
              <a:stCxn id="39" idx="2"/>
              <a:endCxn id="35" idx="2"/>
            </p:cNvCxnSpPr>
            <p:nvPr/>
          </p:nvCxnSpPr>
          <p:spPr>
            <a:xfrm rot="10800000" flipH="1">
              <a:off x="2579555" y="778224"/>
              <a:ext cx="3134609" cy="5513918"/>
            </a:xfrm>
            <a:prstGeom prst="curvedConnector3">
              <a:avLst>
                <a:gd name="adj1" fmla="val -56071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14">
              <a:extLst>
                <a:ext uri="{FF2B5EF4-FFF2-40B4-BE49-F238E27FC236}">
                  <a16:creationId xmlns:a16="http://schemas.microsoft.com/office/drawing/2014/main" id="{8CA100F3-80B8-B8FF-CA40-91573CA41BDD}"/>
                </a:ext>
              </a:extLst>
            </p:cNvPr>
            <p:cNvCxnSpPr>
              <a:cxnSpLocks/>
              <a:stCxn id="35" idx="3"/>
              <a:endCxn id="43" idx="6"/>
            </p:cNvCxnSpPr>
            <p:nvPr/>
          </p:nvCxnSpPr>
          <p:spPr>
            <a:xfrm rot="5400000">
              <a:off x="3918492" y="1177367"/>
              <a:ext cx="2247229" cy="1989524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25">
              <a:extLst>
                <a:ext uri="{FF2B5EF4-FFF2-40B4-BE49-F238E27FC236}">
                  <a16:creationId xmlns:a16="http://schemas.microsoft.com/office/drawing/2014/main" id="{74AD69F0-B5A0-1C9B-DE2C-BF61DB607138}"/>
                </a:ext>
              </a:extLst>
            </p:cNvPr>
            <p:cNvCxnSpPr>
              <a:cxnSpLocks/>
              <a:stCxn id="46" idx="2"/>
              <a:endCxn id="43" idx="5"/>
            </p:cNvCxnSpPr>
            <p:nvPr/>
          </p:nvCxnSpPr>
          <p:spPr>
            <a:xfrm rot="10800000" flipV="1">
              <a:off x="3724641" y="3214897"/>
              <a:ext cx="1957254" cy="351137"/>
            </a:xfrm>
            <a:prstGeom prst="curvedConnector4">
              <a:avLst>
                <a:gd name="adj1" fmla="val 18014"/>
                <a:gd name="adj2" fmla="val 196987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D86C4C5-CFC8-4364-04F2-61802C6DBA35}"/>
                </a:ext>
              </a:extLst>
            </p:cNvPr>
            <p:cNvSpPr/>
            <p:nvPr/>
          </p:nvSpPr>
          <p:spPr>
            <a:xfrm>
              <a:off x="6127225" y="4933029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SLEEP</a:t>
              </a:r>
              <a:endParaRPr lang="en-IN" dirty="0"/>
            </a:p>
          </p:txBody>
        </p:sp>
        <p:cxnSp>
          <p:nvCxnSpPr>
            <p:cNvPr id="62" name="Connector: Elbow 25">
              <a:extLst>
                <a:ext uri="{FF2B5EF4-FFF2-40B4-BE49-F238E27FC236}">
                  <a16:creationId xmlns:a16="http://schemas.microsoft.com/office/drawing/2014/main" id="{3AF9E106-9172-F970-0CA9-612A96CED220}"/>
                </a:ext>
              </a:extLst>
            </p:cNvPr>
            <p:cNvCxnSpPr>
              <a:cxnSpLocks/>
              <a:stCxn id="46" idx="4"/>
              <a:endCxn id="61" idx="1"/>
            </p:cNvCxnSpPr>
            <p:nvPr/>
          </p:nvCxnSpPr>
          <p:spPr>
            <a:xfrm rot="5400000">
              <a:off x="5892880" y="4154195"/>
              <a:ext cx="1447840" cy="33374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25">
              <a:extLst>
                <a:ext uri="{FF2B5EF4-FFF2-40B4-BE49-F238E27FC236}">
                  <a16:creationId xmlns:a16="http://schemas.microsoft.com/office/drawing/2014/main" id="{B7D84BBC-1581-FD87-EAA5-12CA97B065D7}"/>
                </a:ext>
              </a:extLst>
            </p:cNvPr>
            <p:cNvCxnSpPr>
              <a:cxnSpLocks/>
              <a:stCxn id="61" idx="0"/>
              <a:endCxn id="46" idx="5"/>
            </p:cNvCxnSpPr>
            <p:nvPr/>
          </p:nvCxnSpPr>
          <p:spPr>
            <a:xfrm rot="5400000" flipH="1" flipV="1">
              <a:off x="6671954" y="4042237"/>
              <a:ext cx="1447840" cy="33374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693FC4B-8000-5C90-4475-CE920D9C7F82}"/>
                </a:ext>
              </a:extLst>
            </p:cNvPr>
            <p:cNvSpPr txBox="1"/>
            <p:nvPr/>
          </p:nvSpPr>
          <p:spPr>
            <a:xfrm>
              <a:off x="5558229" y="1190408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B80B-4962-DE8A-133C-B9A105FCCFC9}"/>
                </a:ext>
              </a:extLst>
            </p:cNvPr>
            <p:cNvSpPr txBox="1"/>
            <p:nvPr/>
          </p:nvSpPr>
          <p:spPr>
            <a:xfrm>
              <a:off x="5275242" y="3441360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7C1E251-97B6-2E7C-0827-F75533E48BC8}"/>
                </a:ext>
              </a:extLst>
            </p:cNvPr>
            <p:cNvSpPr txBox="1"/>
            <p:nvPr/>
          </p:nvSpPr>
          <p:spPr>
            <a:xfrm>
              <a:off x="4855517" y="4887073"/>
              <a:ext cx="85311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 Clear</a:t>
              </a:r>
              <a:endParaRPr lang="en-IN" sz="11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E3818B5-F846-4959-282E-C53EF6D026B5}"/>
                </a:ext>
              </a:extLst>
            </p:cNvPr>
            <p:cNvSpPr txBox="1"/>
            <p:nvPr/>
          </p:nvSpPr>
          <p:spPr>
            <a:xfrm>
              <a:off x="1636726" y="3852283"/>
              <a:ext cx="11336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&gt; 3 times within</a:t>
              </a:r>
            </a:p>
            <a:p>
              <a:r>
                <a:rPr lang="en-US" sz="1100" dirty="0"/>
                <a:t>1 min</a:t>
              </a:r>
              <a:endParaRPr lang="en-IN" sz="11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21A30B9-7C7B-C7D2-2866-B2DC85110742}"/>
                </a:ext>
              </a:extLst>
            </p:cNvPr>
            <p:cNvSpPr txBox="1"/>
            <p:nvPr/>
          </p:nvSpPr>
          <p:spPr>
            <a:xfrm>
              <a:off x="2945150" y="3931944"/>
              <a:ext cx="11336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&lt; 3 times within</a:t>
              </a:r>
            </a:p>
            <a:p>
              <a:r>
                <a:rPr lang="en-US" sz="1100" dirty="0"/>
                <a:t>1 min</a:t>
              </a:r>
              <a:endParaRPr lang="en-IN" sz="11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291E611-E1D7-4F1B-55DC-5A3A1F33603F}"/>
                </a:ext>
              </a:extLst>
            </p:cNvPr>
            <p:cNvSpPr txBox="1"/>
            <p:nvPr/>
          </p:nvSpPr>
          <p:spPr>
            <a:xfrm>
              <a:off x="3194988" y="2260953"/>
              <a:ext cx="49404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Fault</a:t>
              </a:r>
              <a:endParaRPr lang="en-IN" sz="11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1A3D4232-1490-B95A-AED1-FBD90FC2DF1B}"/>
                </a:ext>
              </a:extLst>
            </p:cNvPr>
            <p:cNvSpPr txBox="1"/>
            <p:nvPr/>
          </p:nvSpPr>
          <p:spPr>
            <a:xfrm>
              <a:off x="1513773" y="6263241"/>
              <a:ext cx="94128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Power Cycle</a:t>
              </a:r>
              <a:endParaRPr lang="en-IN" sz="11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0965B0F-0E40-141A-2FE2-40CD9DC6D147}"/>
                </a:ext>
              </a:extLst>
            </p:cNvPr>
            <p:cNvSpPr txBox="1"/>
            <p:nvPr/>
          </p:nvSpPr>
          <p:spPr>
            <a:xfrm>
              <a:off x="6447219" y="4532332"/>
              <a:ext cx="65915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timeout</a:t>
              </a:r>
              <a:endParaRPr lang="en-IN" sz="1100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A744F03-2AEE-D209-80E7-CA5D36D11E00}"/>
                </a:ext>
              </a:extLst>
            </p:cNvPr>
            <p:cNvSpPr/>
            <p:nvPr/>
          </p:nvSpPr>
          <p:spPr>
            <a:xfrm>
              <a:off x="8923731" y="2725211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PRECHARGE</a:t>
              </a:r>
              <a:endParaRPr lang="en-IN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F7868DC-BACF-031A-A51D-4030E2B7C831}"/>
                </a:ext>
              </a:extLst>
            </p:cNvPr>
            <p:cNvSpPr/>
            <p:nvPr/>
          </p:nvSpPr>
          <p:spPr>
            <a:xfrm>
              <a:off x="8144656" y="1273018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CONTACTOR</a:t>
              </a:r>
              <a:endParaRPr lang="en-IN" dirty="0"/>
            </a:p>
          </p:txBody>
        </p:sp>
        <p:cxnSp>
          <p:nvCxnSpPr>
            <p:cNvPr id="83" name="Connector: Elbow 14">
              <a:extLst>
                <a:ext uri="{FF2B5EF4-FFF2-40B4-BE49-F238E27FC236}">
                  <a16:creationId xmlns:a16="http://schemas.microsoft.com/office/drawing/2014/main" id="{A706CF28-12EC-57CA-6E3A-8C99E4CE2FD2}"/>
                </a:ext>
              </a:extLst>
            </p:cNvPr>
            <p:cNvCxnSpPr>
              <a:cxnSpLocks/>
              <a:stCxn id="46" idx="6"/>
              <a:endCxn id="79" idx="2"/>
            </p:cNvCxnSpPr>
            <p:nvPr/>
          </p:nvCxnSpPr>
          <p:spPr>
            <a:xfrm flipV="1">
              <a:off x="7885449" y="3107461"/>
              <a:ext cx="1038282" cy="107437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14">
              <a:extLst>
                <a:ext uri="{FF2B5EF4-FFF2-40B4-BE49-F238E27FC236}">
                  <a16:creationId xmlns:a16="http://schemas.microsoft.com/office/drawing/2014/main" id="{4B045278-D4D2-CEDF-724E-9D3788C981EB}"/>
                </a:ext>
              </a:extLst>
            </p:cNvPr>
            <p:cNvCxnSpPr>
              <a:cxnSpLocks/>
              <a:stCxn id="79" idx="0"/>
              <a:endCxn id="80" idx="4"/>
            </p:cNvCxnSpPr>
            <p:nvPr/>
          </p:nvCxnSpPr>
          <p:spPr>
            <a:xfrm rot="16200000" flipV="1">
              <a:off x="9292124" y="1991826"/>
              <a:ext cx="687694" cy="779075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: Elbow 25">
              <a:extLst>
                <a:ext uri="{FF2B5EF4-FFF2-40B4-BE49-F238E27FC236}">
                  <a16:creationId xmlns:a16="http://schemas.microsoft.com/office/drawing/2014/main" id="{62AC8C3E-2B04-3FD7-94E7-2B214E1B8DB2}"/>
                </a:ext>
              </a:extLst>
            </p:cNvPr>
            <p:cNvCxnSpPr>
              <a:cxnSpLocks/>
              <a:stCxn id="80" idx="2"/>
              <a:endCxn id="36" idx="6"/>
            </p:cNvCxnSpPr>
            <p:nvPr/>
          </p:nvCxnSpPr>
          <p:spPr>
            <a:xfrm rot="10800000" flipV="1">
              <a:off x="5149122" y="1655268"/>
              <a:ext cx="2995535" cy="36768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or: Elbow 25">
              <a:extLst>
                <a:ext uri="{FF2B5EF4-FFF2-40B4-BE49-F238E27FC236}">
                  <a16:creationId xmlns:a16="http://schemas.microsoft.com/office/drawing/2014/main" id="{9E244C2C-9324-CCF4-6612-168D4BA6E39B}"/>
                </a:ext>
              </a:extLst>
            </p:cNvPr>
            <p:cNvCxnSpPr>
              <a:cxnSpLocks/>
              <a:stCxn id="36" idx="4"/>
              <a:endCxn id="46" idx="1"/>
            </p:cNvCxnSpPr>
            <p:nvPr/>
          </p:nvCxnSpPr>
          <p:spPr>
            <a:xfrm rot="16200000" flipH="1">
              <a:off x="4590811" y="1530818"/>
              <a:ext cx="870321" cy="1957254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D384228-80A3-1D61-0BC0-87EC39AC09AE}"/>
                </a:ext>
              </a:extLst>
            </p:cNvPr>
            <p:cNvSpPr txBox="1"/>
            <p:nvPr/>
          </p:nvSpPr>
          <p:spPr>
            <a:xfrm>
              <a:off x="7972944" y="3242594"/>
              <a:ext cx="6383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Ignition</a:t>
              </a:r>
              <a:endParaRPr lang="en-IN" sz="1100" dirty="0"/>
            </a:p>
          </p:txBody>
        </p:sp>
        <p:cxnSp>
          <p:nvCxnSpPr>
            <p:cNvPr id="3" name="Connector: Elbow 25">
              <a:extLst>
                <a:ext uri="{FF2B5EF4-FFF2-40B4-BE49-F238E27FC236}">
                  <a16:creationId xmlns:a16="http://schemas.microsoft.com/office/drawing/2014/main" id="{A45419AD-A759-6D7F-CF38-786E943DE90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815942" y="133278"/>
              <a:ext cx="746804" cy="26269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C55DB2-988F-F157-60DA-68E4F6465D64}"/>
                </a:ext>
              </a:extLst>
            </p:cNvPr>
            <p:cNvSpPr txBox="1"/>
            <p:nvPr/>
          </p:nvSpPr>
          <p:spPr>
            <a:xfrm>
              <a:off x="7710668" y="53520"/>
              <a:ext cx="15215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Ignition/charge detect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9098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861552-35C7-BC6A-2277-AEFD66096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43"/>
            <a:ext cx="5769339" cy="561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Drive Modes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0F34175-51B3-5633-A1A0-8241F59E8DC6}"/>
              </a:ext>
            </a:extLst>
          </p:cNvPr>
          <p:cNvGrpSpPr/>
          <p:nvPr/>
        </p:nvGrpSpPr>
        <p:grpSpPr>
          <a:xfrm>
            <a:off x="233788" y="1162881"/>
            <a:ext cx="10567776" cy="4687912"/>
            <a:chOff x="233788" y="1162881"/>
            <a:chExt cx="10567776" cy="468791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29D3AD-34A7-A2AB-4519-A01ED05A41FE}"/>
                </a:ext>
              </a:extLst>
            </p:cNvPr>
            <p:cNvSpPr/>
            <p:nvPr/>
          </p:nvSpPr>
          <p:spPr>
            <a:xfrm>
              <a:off x="681115" y="2855625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Neutral/Idle</a:t>
              </a:r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328F82-7CC7-49A7-DD12-2FE3017A1F5F}"/>
                </a:ext>
              </a:extLst>
            </p:cNvPr>
            <p:cNvSpPr/>
            <p:nvPr/>
          </p:nvSpPr>
          <p:spPr>
            <a:xfrm>
              <a:off x="6002002" y="1162881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Reverse</a:t>
              </a:r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14BCDC-2CF3-4E32-31DC-F2B403F1D807}"/>
                </a:ext>
              </a:extLst>
            </p:cNvPr>
            <p:cNvSpPr/>
            <p:nvPr/>
          </p:nvSpPr>
          <p:spPr>
            <a:xfrm>
              <a:off x="2738204" y="116288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ECO</a:t>
              </a:r>
              <a:endParaRPr lang="en-IN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DD4D040-1256-880D-5767-CF4275C285BB}"/>
                </a:ext>
              </a:extLst>
            </p:cNvPr>
            <p:cNvSpPr/>
            <p:nvPr/>
          </p:nvSpPr>
          <p:spPr>
            <a:xfrm>
              <a:off x="2884669" y="439097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BOOST</a:t>
              </a:r>
              <a:endParaRPr lang="en-IN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E78F9B1-A437-08D6-124B-119928B9A7CF}"/>
                </a:ext>
              </a:extLst>
            </p:cNvPr>
            <p:cNvSpPr/>
            <p:nvPr/>
          </p:nvSpPr>
          <p:spPr>
            <a:xfrm>
              <a:off x="8144655" y="2855626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Limp Home</a:t>
              </a:r>
              <a:endParaRPr lang="en-IN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5A0EAA-DE39-4D60-F395-0DC47F8B235D}"/>
                </a:ext>
              </a:extLst>
            </p:cNvPr>
            <p:cNvSpPr/>
            <p:nvPr/>
          </p:nvSpPr>
          <p:spPr>
            <a:xfrm>
              <a:off x="6002002" y="4390972"/>
              <a:ext cx="2203554" cy="76449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Immobilize</a:t>
              </a:r>
              <a:endParaRPr lang="en-IN" dirty="0"/>
            </a:p>
          </p:txBody>
        </p:sp>
        <p:cxnSp>
          <p:nvCxnSpPr>
            <p:cNvPr id="12" name="Connector: Elbow 25">
              <a:extLst>
                <a:ext uri="{FF2B5EF4-FFF2-40B4-BE49-F238E27FC236}">
                  <a16:creationId xmlns:a16="http://schemas.microsoft.com/office/drawing/2014/main" id="{B189BE7F-12E1-27F1-00AB-A9367B82FC2E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534651" y="2582627"/>
              <a:ext cx="469167" cy="384956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EC7B02-3927-878A-671B-36B61A1F8D41}"/>
                </a:ext>
              </a:extLst>
            </p:cNvPr>
            <p:cNvSpPr txBox="1"/>
            <p:nvPr/>
          </p:nvSpPr>
          <p:spPr>
            <a:xfrm>
              <a:off x="233788" y="2205695"/>
              <a:ext cx="7697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Ignitin</a:t>
              </a:r>
              <a:r>
                <a:rPr lang="en-US" sz="1100" dirty="0"/>
                <a:t> On</a:t>
              </a:r>
              <a:endParaRPr lang="en-IN" sz="1100" dirty="0"/>
            </a:p>
          </p:txBody>
        </p:sp>
        <p:cxnSp>
          <p:nvCxnSpPr>
            <p:cNvPr id="16" name="Connector: Elbow 25">
              <a:extLst>
                <a:ext uri="{FF2B5EF4-FFF2-40B4-BE49-F238E27FC236}">
                  <a16:creationId xmlns:a16="http://schemas.microsoft.com/office/drawing/2014/main" id="{26BFC115-1A40-4020-1670-9D4082DF79CE}"/>
                </a:ext>
              </a:extLst>
            </p:cNvPr>
            <p:cNvCxnSpPr>
              <a:cxnSpLocks/>
              <a:stCxn id="5" idx="0"/>
              <a:endCxn id="7" idx="2"/>
            </p:cNvCxnSpPr>
            <p:nvPr/>
          </p:nvCxnSpPr>
          <p:spPr>
            <a:xfrm rot="5400000" flipH="1" flipV="1">
              <a:off x="1605302" y="1722723"/>
              <a:ext cx="1310493" cy="955312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31413C0-3A52-13C2-B804-37CEAB850B71}"/>
                </a:ext>
              </a:extLst>
            </p:cNvPr>
            <p:cNvSpPr txBox="1"/>
            <p:nvPr/>
          </p:nvSpPr>
          <p:spPr>
            <a:xfrm>
              <a:off x="1159960" y="1599979"/>
              <a:ext cx="114326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Mode ECO AND</a:t>
              </a:r>
            </a:p>
            <a:p>
              <a:r>
                <a:rPr lang="en-US" sz="1100" dirty="0"/>
                <a:t>Dir FWD </a:t>
              </a:r>
              <a:endParaRPr lang="en-IN" sz="1100" dirty="0"/>
            </a:p>
          </p:txBody>
        </p:sp>
        <p:cxnSp>
          <p:nvCxnSpPr>
            <p:cNvPr id="44" name="Connector: Elbow 25">
              <a:extLst>
                <a:ext uri="{FF2B5EF4-FFF2-40B4-BE49-F238E27FC236}">
                  <a16:creationId xmlns:a16="http://schemas.microsoft.com/office/drawing/2014/main" id="{450B5C9E-DFD1-0AC8-ECDE-7EAE856FBE4B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rot="5400000" flipH="1" flipV="1">
              <a:off x="3867255" y="510134"/>
              <a:ext cx="1152161" cy="3762739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B04ACF-68CD-D13F-E76C-FF51B6F0800C}"/>
                </a:ext>
              </a:extLst>
            </p:cNvPr>
            <p:cNvSpPr txBox="1"/>
            <p:nvPr/>
          </p:nvSpPr>
          <p:spPr>
            <a:xfrm>
              <a:off x="4751432" y="1946392"/>
              <a:ext cx="98135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Speed 0 AND</a:t>
              </a:r>
            </a:p>
            <a:p>
              <a:r>
                <a:rPr lang="en-US" sz="1100" dirty="0"/>
                <a:t>Dir REV </a:t>
              </a:r>
              <a:endParaRPr lang="en-IN" sz="1100" dirty="0"/>
            </a:p>
          </p:txBody>
        </p:sp>
        <p:cxnSp>
          <p:nvCxnSpPr>
            <p:cNvPr id="48" name="Connector: Elbow 25">
              <a:extLst>
                <a:ext uri="{FF2B5EF4-FFF2-40B4-BE49-F238E27FC236}">
                  <a16:creationId xmlns:a16="http://schemas.microsoft.com/office/drawing/2014/main" id="{FE9F3575-5650-4585-4091-0F4F9B543341}"/>
                </a:ext>
              </a:extLst>
            </p:cNvPr>
            <p:cNvCxnSpPr>
              <a:cxnSpLocks/>
              <a:stCxn id="5" idx="6"/>
              <a:endCxn id="10" idx="2"/>
            </p:cNvCxnSpPr>
            <p:nvPr/>
          </p:nvCxnSpPr>
          <p:spPr>
            <a:xfrm>
              <a:off x="2884669" y="3237875"/>
              <a:ext cx="5259986" cy="1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: Elbow 25">
              <a:extLst>
                <a:ext uri="{FF2B5EF4-FFF2-40B4-BE49-F238E27FC236}">
                  <a16:creationId xmlns:a16="http://schemas.microsoft.com/office/drawing/2014/main" id="{45731F21-AF29-10A0-D0F4-583C73A6D46A}"/>
                </a:ext>
              </a:extLst>
            </p:cNvPr>
            <p:cNvCxnSpPr>
              <a:cxnSpLocks/>
              <a:stCxn id="5" idx="4"/>
              <a:endCxn id="8" idx="2"/>
            </p:cNvCxnSpPr>
            <p:nvPr/>
          </p:nvCxnSpPr>
          <p:spPr>
            <a:xfrm rot="16200000" flipH="1">
              <a:off x="1757231" y="3645784"/>
              <a:ext cx="1153098" cy="1101777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A96A57B-4B94-4107-764C-BB1049CDE03C}"/>
                </a:ext>
              </a:extLst>
            </p:cNvPr>
            <p:cNvSpPr txBox="1"/>
            <p:nvPr/>
          </p:nvSpPr>
          <p:spPr>
            <a:xfrm>
              <a:off x="1094916" y="4414307"/>
              <a:ext cx="123886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Mode Boost AND</a:t>
              </a:r>
            </a:p>
            <a:p>
              <a:r>
                <a:rPr lang="en-US" sz="1100" dirty="0"/>
                <a:t>Dir FWD </a:t>
              </a:r>
              <a:endParaRPr lang="en-IN" sz="11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0DCE197-BC01-48B4-E0C5-95A74C0876F2}"/>
                </a:ext>
              </a:extLst>
            </p:cNvPr>
            <p:cNvSpPr txBox="1"/>
            <p:nvPr/>
          </p:nvSpPr>
          <p:spPr>
            <a:xfrm>
              <a:off x="8725844" y="2030866"/>
              <a:ext cx="2075720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SOC &lt; 15% OR</a:t>
              </a:r>
            </a:p>
            <a:p>
              <a:r>
                <a:rPr lang="en-US" sz="1100" dirty="0"/>
                <a:t>DCL &lt; 100A</a:t>
              </a:r>
            </a:p>
            <a:p>
              <a:r>
                <a:rPr lang="en-US" sz="1100" dirty="0"/>
                <a:t>FAULT action Limp Home OR</a:t>
              </a:r>
            </a:p>
            <a:p>
              <a:r>
                <a:rPr lang="en-US" sz="1100" dirty="0"/>
                <a:t>Thermal Warning</a:t>
              </a:r>
            </a:p>
            <a:p>
              <a:endParaRPr lang="en-IN" sz="1100" dirty="0"/>
            </a:p>
          </p:txBody>
        </p:sp>
        <p:cxnSp>
          <p:nvCxnSpPr>
            <p:cNvPr id="59" name="Connector: Elbow 25">
              <a:extLst>
                <a:ext uri="{FF2B5EF4-FFF2-40B4-BE49-F238E27FC236}">
                  <a16:creationId xmlns:a16="http://schemas.microsoft.com/office/drawing/2014/main" id="{E75A3844-AB35-98CD-F66E-D4DD5CA32030}"/>
                </a:ext>
              </a:extLst>
            </p:cNvPr>
            <p:cNvCxnSpPr>
              <a:cxnSpLocks/>
              <a:stCxn id="5" idx="5"/>
              <a:endCxn id="11" idx="1"/>
            </p:cNvCxnSpPr>
            <p:nvPr/>
          </p:nvCxnSpPr>
          <p:spPr>
            <a:xfrm rot="16200000" flipH="1">
              <a:off x="3945953" y="2124178"/>
              <a:ext cx="994764" cy="3762739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5868924-3397-114D-52F9-9853180A9D93}"/>
                </a:ext>
              </a:extLst>
            </p:cNvPr>
            <p:cNvSpPr txBox="1"/>
            <p:nvPr/>
          </p:nvSpPr>
          <p:spPr>
            <a:xfrm>
              <a:off x="6425200" y="5250629"/>
              <a:ext cx="1600118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Park detected OR</a:t>
              </a:r>
            </a:p>
            <a:p>
              <a:r>
                <a:rPr lang="en-US" sz="1100" dirty="0"/>
                <a:t>CAHRGER detected OR</a:t>
              </a:r>
            </a:p>
            <a:p>
              <a:r>
                <a:rPr lang="en-US" sz="1100" dirty="0"/>
                <a:t>Immobilize Request</a:t>
              </a:r>
              <a:endParaRPr lang="en-IN" sz="1100" dirty="0"/>
            </a:p>
          </p:txBody>
        </p:sp>
        <p:cxnSp>
          <p:nvCxnSpPr>
            <p:cNvPr id="64" name="Connector: Elbow 25">
              <a:extLst>
                <a:ext uri="{FF2B5EF4-FFF2-40B4-BE49-F238E27FC236}">
                  <a16:creationId xmlns:a16="http://schemas.microsoft.com/office/drawing/2014/main" id="{F54D8ED8-0558-5486-9A24-5A2D2CF54CA6}"/>
                </a:ext>
              </a:extLst>
            </p:cNvPr>
            <p:cNvCxnSpPr>
              <a:cxnSpLocks/>
              <a:stCxn id="8" idx="6"/>
              <a:endCxn id="11" idx="2"/>
            </p:cNvCxnSpPr>
            <p:nvPr/>
          </p:nvCxnSpPr>
          <p:spPr>
            <a:xfrm>
              <a:off x="5088223" y="4773222"/>
              <a:ext cx="913779" cy="12700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25">
              <a:extLst>
                <a:ext uri="{FF2B5EF4-FFF2-40B4-BE49-F238E27FC236}">
                  <a16:creationId xmlns:a16="http://schemas.microsoft.com/office/drawing/2014/main" id="{08A80796-BB51-DBBF-4C02-D07A1E5A5A04}"/>
                </a:ext>
              </a:extLst>
            </p:cNvPr>
            <p:cNvCxnSpPr>
              <a:cxnSpLocks/>
              <a:stCxn id="8" idx="0"/>
              <a:endCxn id="10" idx="2"/>
            </p:cNvCxnSpPr>
            <p:nvPr/>
          </p:nvCxnSpPr>
          <p:spPr>
            <a:xfrm rot="5400000" flipH="1" flipV="1">
              <a:off x="5489002" y="1735320"/>
              <a:ext cx="1153096" cy="4158209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25">
              <a:extLst>
                <a:ext uri="{FF2B5EF4-FFF2-40B4-BE49-F238E27FC236}">
                  <a16:creationId xmlns:a16="http://schemas.microsoft.com/office/drawing/2014/main" id="{202A7ADC-8C3C-087A-6566-6174E092606C}"/>
                </a:ext>
              </a:extLst>
            </p:cNvPr>
            <p:cNvCxnSpPr>
              <a:cxnSpLocks/>
              <a:stCxn id="11" idx="7"/>
              <a:endCxn id="6" idx="5"/>
            </p:cNvCxnSpPr>
            <p:nvPr/>
          </p:nvCxnSpPr>
          <p:spPr>
            <a:xfrm rot="5400000" flipH="1" flipV="1">
              <a:off x="6539099" y="3159176"/>
              <a:ext cx="2687508" cy="12700"/>
            </a:xfrm>
            <a:prstGeom prst="curvedConnector3">
              <a:avLst>
                <a:gd name="adj1" fmla="val 50000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: Elbow 25">
              <a:extLst>
                <a:ext uri="{FF2B5EF4-FFF2-40B4-BE49-F238E27FC236}">
                  <a16:creationId xmlns:a16="http://schemas.microsoft.com/office/drawing/2014/main" id="{BC395BDE-4BA3-362C-5A7F-522E124A76D7}"/>
                </a:ext>
              </a:extLst>
            </p:cNvPr>
            <p:cNvCxnSpPr>
              <a:cxnSpLocks/>
              <a:stCxn id="11" idx="0"/>
              <a:endCxn id="7" idx="4"/>
            </p:cNvCxnSpPr>
            <p:nvPr/>
          </p:nvCxnSpPr>
          <p:spPr>
            <a:xfrm rot="16200000" flipV="1">
              <a:off x="4240085" y="1527278"/>
              <a:ext cx="2463591" cy="3263798"/>
            </a:xfrm>
            <a:prstGeom prst="curvedConnector3">
              <a:avLst>
                <a:gd name="adj1" fmla="val 23836"/>
              </a:avLst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: Elbow 25">
              <a:extLst>
                <a:ext uri="{FF2B5EF4-FFF2-40B4-BE49-F238E27FC236}">
                  <a16:creationId xmlns:a16="http://schemas.microsoft.com/office/drawing/2014/main" id="{897BEDA6-455B-DAF4-4FC4-3FF400D3462B}"/>
                </a:ext>
              </a:extLst>
            </p:cNvPr>
            <p:cNvCxnSpPr>
              <a:cxnSpLocks/>
              <a:stCxn id="7" idx="4"/>
              <a:endCxn id="10" idx="2"/>
            </p:cNvCxnSpPr>
            <p:nvPr/>
          </p:nvCxnSpPr>
          <p:spPr>
            <a:xfrm rot="16200000" flipH="1">
              <a:off x="5337071" y="430291"/>
              <a:ext cx="1310495" cy="4304674"/>
            </a:xfrm>
            <a:prstGeom prst="curvedConnector2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0831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8FF995-E275-A6D4-F544-72AC3E9BC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43"/>
            <a:ext cx="5769339" cy="561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SW Architecture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DE978B-2FF6-6FAB-5969-A87E79AF76FF}"/>
              </a:ext>
            </a:extLst>
          </p:cNvPr>
          <p:cNvSpPr/>
          <p:nvPr/>
        </p:nvSpPr>
        <p:spPr>
          <a:xfrm>
            <a:off x="3820931" y="4486185"/>
            <a:ext cx="1079291" cy="16639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Driver DB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0FE7E0-31BC-1EBD-3007-BEC227D8D23B}"/>
              </a:ext>
            </a:extLst>
          </p:cNvPr>
          <p:cNvSpPr/>
          <p:nvPr/>
        </p:nvSpPr>
        <p:spPr>
          <a:xfrm>
            <a:off x="3834362" y="758533"/>
            <a:ext cx="1079291" cy="16639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VCU DB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D84284-143E-F664-0A08-90A43A5D6823}"/>
              </a:ext>
            </a:extLst>
          </p:cNvPr>
          <p:cNvSpPr/>
          <p:nvPr/>
        </p:nvSpPr>
        <p:spPr>
          <a:xfrm>
            <a:off x="3820931" y="2546110"/>
            <a:ext cx="1079291" cy="16639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BMS DB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B835A3-A9CE-5FE7-E1E8-C7A7005059E4}"/>
              </a:ext>
            </a:extLst>
          </p:cNvPr>
          <p:cNvSpPr/>
          <p:nvPr/>
        </p:nvSpPr>
        <p:spPr>
          <a:xfrm>
            <a:off x="682057" y="1717033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 Comm Process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2EA51DD-BA04-74BA-D1DD-21EA3A7455B8}"/>
              </a:ext>
            </a:extLst>
          </p:cNvPr>
          <p:cNvSpPr/>
          <p:nvPr/>
        </p:nvSpPr>
        <p:spPr>
          <a:xfrm>
            <a:off x="682057" y="2866231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 Comm Process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C9424B-08DD-033E-05C4-4769FB0065CB}"/>
              </a:ext>
            </a:extLst>
          </p:cNvPr>
          <p:cNvSpPr/>
          <p:nvPr/>
        </p:nvSpPr>
        <p:spPr>
          <a:xfrm>
            <a:off x="9570281" y="1462635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 Comm Process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FAE1D3-370F-D644-A195-42E917662D1C}"/>
              </a:ext>
            </a:extLst>
          </p:cNvPr>
          <p:cNvSpPr/>
          <p:nvPr/>
        </p:nvSpPr>
        <p:spPr>
          <a:xfrm>
            <a:off x="10132412" y="2706185"/>
            <a:ext cx="1079291" cy="16639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SFlash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3F0EAE-BB67-99CE-3735-669CF15F89D0}"/>
              </a:ext>
            </a:extLst>
          </p:cNvPr>
          <p:cNvSpPr/>
          <p:nvPr/>
        </p:nvSpPr>
        <p:spPr>
          <a:xfrm>
            <a:off x="5908937" y="2613565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VCU Process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3EE054-80C2-E45B-F6F8-DF5A2F03E50C}"/>
              </a:ext>
            </a:extLst>
          </p:cNvPr>
          <p:cNvSpPr/>
          <p:nvPr/>
        </p:nvSpPr>
        <p:spPr>
          <a:xfrm>
            <a:off x="6024485" y="5194174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BMS Process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D63028-9EF1-0365-7FF3-20A5928C6B90}"/>
              </a:ext>
            </a:extLst>
          </p:cNvPr>
          <p:cNvSpPr/>
          <p:nvPr/>
        </p:nvSpPr>
        <p:spPr>
          <a:xfrm>
            <a:off x="682057" y="3915112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Analog Process</a:t>
            </a:r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04F515-193D-A9A8-D097-0444C8F1BE29}"/>
              </a:ext>
            </a:extLst>
          </p:cNvPr>
          <p:cNvSpPr/>
          <p:nvPr/>
        </p:nvSpPr>
        <p:spPr>
          <a:xfrm>
            <a:off x="682057" y="4870735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GPIO Process</a:t>
            </a:r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33FA15C-3317-D850-22CC-A9D1BC7F9889}"/>
              </a:ext>
            </a:extLst>
          </p:cNvPr>
          <p:cNvSpPr/>
          <p:nvPr/>
        </p:nvSpPr>
        <p:spPr>
          <a:xfrm>
            <a:off x="682057" y="5826358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PWM &amp; </a:t>
            </a:r>
            <a:r>
              <a:rPr lang="en-US" dirty="0" err="1"/>
              <a:t>FrqIn</a:t>
            </a:r>
            <a:r>
              <a:rPr lang="en-US" dirty="0"/>
              <a:t> Process</a:t>
            </a:r>
            <a:endParaRPr lang="en-IN" dirty="0"/>
          </a:p>
        </p:txBody>
      </p:sp>
      <p:cxnSp>
        <p:nvCxnSpPr>
          <p:cNvPr id="17" name="Connector: Elbow 25">
            <a:extLst>
              <a:ext uri="{FF2B5EF4-FFF2-40B4-BE49-F238E27FC236}">
                <a16:creationId xmlns:a16="http://schemas.microsoft.com/office/drawing/2014/main" id="{5EE0F36F-6F6C-5953-885B-626F2869C56D}"/>
              </a:ext>
            </a:extLst>
          </p:cNvPr>
          <p:cNvCxnSpPr>
            <a:cxnSpLocks/>
            <a:stCxn id="8" idx="6"/>
            <a:endCxn id="6" idx="1"/>
          </p:cNvCxnSpPr>
          <p:nvPr/>
        </p:nvCxnSpPr>
        <p:spPr>
          <a:xfrm flipV="1">
            <a:off x="2885611" y="1590487"/>
            <a:ext cx="948751" cy="508796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5">
            <a:extLst>
              <a:ext uri="{FF2B5EF4-FFF2-40B4-BE49-F238E27FC236}">
                <a16:creationId xmlns:a16="http://schemas.microsoft.com/office/drawing/2014/main" id="{C0A8C820-E182-90E7-C4C4-131036468F12}"/>
              </a:ext>
            </a:extLst>
          </p:cNvPr>
          <p:cNvCxnSpPr>
            <a:cxnSpLocks/>
            <a:stCxn id="9" idx="6"/>
            <a:endCxn id="7" idx="1"/>
          </p:cNvCxnSpPr>
          <p:nvPr/>
        </p:nvCxnSpPr>
        <p:spPr>
          <a:xfrm>
            <a:off x="2885611" y="3248481"/>
            <a:ext cx="935320" cy="129583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5">
            <a:extLst>
              <a:ext uri="{FF2B5EF4-FFF2-40B4-BE49-F238E27FC236}">
                <a16:creationId xmlns:a16="http://schemas.microsoft.com/office/drawing/2014/main" id="{88F53EF5-ABDA-D854-0B87-A01827AD5E0A}"/>
              </a:ext>
            </a:extLst>
          </p:cNvPr>
          <p:cNvCxnSpPr>
            <a:cxnSpLocks/>
            <a:stCxn id="8" idx="6"/>
            <a:endCxn id="7" idx="1"/>
          </p:cNvCxnSpPr>
          <p:nvPr/>
        </p:nvCxnSpPr>
        <p:spPr>
          <a:xfrm>
            <a:off x="2885611" y="2099283"/>
            <a:ext cx="935320" cy="1278781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25">
            <a:extLst>
              <a:ext uri="{FF2B5EF4-FFF2-40B4-BE49-F238E27FC236}">
                <a16:creationId xmlns:a16="http://schemas.microsoft.com/office/drawing/2014/main" id="{339C47A0-076D-42C7-16B7-D1E755213C22}"/>
              </a:ext>
            </a:extLst>
          </p:cNvPr>
          <p:cNvCxnSpPr>
            <a:cxnSpLocks/>
            <a:stCxn id="14" idx="6"/>
            <a:endCxn id="5" idx="1"/>
          </p:cNvCxnSpPr>
          <p:nvPr/>
        </p:nvCxnSpPr>
        <p:spPr>
          <a:xfrm>
            <a:off x="2885611" y="4297362"/>
            <a:ext cx="935320" cy="1020777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25">
            <a:extLst>
              <a:ext uri="{FF2B5EF4-FFF2-40B4-BE49-F238E27FC236}">
                <a16:creationId xmlns:a16="http://schemas.microsoft.com/office/drawing/2014/main" id="{D8D5F878-1BC6-CC98-39FD-896A32034898}"/>
              </a:ext>
            </a:extLst>
          </p:cNvPr>
          <p:cNvCxnSpPr>
            <a:cxnSpLocks/>
            <a:stCxn id="16" idx="6"/>
            <a:endCxn id="5" idx="1"/>
          </p:cNvCxnSpPr>
          <p:nvPr/>
        </p:nvCxnSpPr>
        <p:spPr>
          <a:xfrm flipV="1">
            <a:off x="2885611" y="5318139"/>
            <a:ext cx="935320" cy="890469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25">
            <a:extLst>
              <a:ext uri="{FF2B5EF4-FFF2-40B4-BE49-F238E27FC236}">
                <a16:creationId xmlns:a16="http://schemas.microsoft.com/office/drawing/2014/main" id="{0C7A13AC-B458-290D-E2B6-0523CE651504}"/>
              </a:ext>
            </a:extLst>
          </p:cNvPr>
          <p:cNvCxnSpPr>
            <a:cxnSpLocks/>
            <a:stCxn id="15" idx="6"/>
            <a:endCxn id="5" idx="1"/>
          </p:cNvCxnSpPr>
          <p:nvPr/>
        </p:nvCxnSpPr>
        <p:spPr>
          <a:xfrm>
            <a:off x="2885611" y="5252985"/>
            <a:ext cx="935320" cy="6515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25">
            <a:extLst>
              <a:ext uri="{FF2B5EF4-FFF2-40B4-BE49-F238E27FC236}">
                <a16:creationId xmlns:a16="http://schemas.microsoft.com/office/drawing/2014/main" id="{0A7979BF-C1F3-C8BA-7381-037F85F7A513}"/>
              </a:ext>
            </a:extLst>
          </p:cNvPr>
          <p:cNvCxnSpPr>
            <a:cxnSpLocks/>
            <a:stCxn id="6" idx="3"/>
            <a:endCxn id="12" idx="0"/>
          </p:cNvCxnSpPr>
          <p:nvPr/>
        </p:nvCxnSpPr>
        <p:spPr>
          <a:xfrm>
            <a:off x="4913653" y="1590487"/>
            <a:ext cx="2097061" cy="1023078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25">
            <a:extLst>
              <a:ext uri="{FF2B5EF4-FFF2-40B4-BE49-F238E27FC236}">
                <a16:creationId xmlns:a16="http://schemas.microsoft.com/office/drawing/2014/main" id="{A0989D92-D547-440A-AFD0-4D4644126D3E}"/>
              </a:ext>
            </a:extLst>
          </p:cNvPr>
          <p:cNvCxnSpPr>
            <a:cxnSpLocks/>
            <a:stCxn id="5" idx="3"/>
            <a:endCxn id="12" idx="4"/>
          </p:cNvCxnSpPr>
          <p:nvPr/>
        </p:nvCxnSpPr>
        <p:spPr>
          <a:xfrm flipV="1">
            <a:off x="4900222" y="3378064"/>
            <a:ext cx="2110492" cy="1940075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25">
            <a:extLst>
              <a:ext uri="{FF2B5EF4-FFF2-40B4-BE49-F238E27FC236}">
                <a16:creationId xmlns:a16="http://schemas.microsoft.com/office/drawing/2014/main" id="{FAA39A3A-7270-4FEE-5EE0-77ACAA0897DF}"/>
              </a:ext>
            </a:extLst>
          </p:cNvPr>
          <p:cNvCxnSpPr>
            <a:cxnSpLocks/>
            <a:stCxn id="7" idx="3"/>
            <a:endCxn id="13" idx="0"/>
          </p:cNvCxnSpPr>
          <p:nvPr/>
        </p:nvCxnSpPr>
        <p:spPr>
          <a:xfrm>
            <a:off x="4900222" y="3378064"/>
            <a:ext cx="2226040" cy="181611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25">
            <a:extLst>
              <a:ext uri="{FF2B5EF4-FFF2-40B4-BE49-F238E27FC236}">
                <a16:creationId xmlns:a16="http://schemas.microsoft.com/office/drawing/2014/main" id="{862D9A01-2E05-27D7-8A81-FAE3D8579BDA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 rot="5400000">
            <a:off x="10432533" y="2466659"/>
            <a:ext cx="479051" cy="12700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579B0C72-1BD8-3699-6515-DFC4773C4034}"/>
              </a:ext>
            </a:extLst>
          </p:cNvPr>
          <p:cNvSpPr/>
          <p:nvPr/>
        </p:nvSpPr>
        <p:spPr>
          <a:xfrm>
            <a:off x="5908937" y="534059"/>
            <a:ext cx="2203554" cy="764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Telematics Process</a:t>
            </a:r>
            <a:endParaRPr lang="en-IN" dirty="0"/>
          </a:p>
        </p:txBody>
      </p:sp>
      <p:cxnSp>
        <p:nvCxnSpPr>
          <p:cNvPr id="60" name="Connector: Elbow 25">
            <a:extLst>
              <a:ext uri="{FF2B5EF4-FFF2-40B4-BE49-F238E27FC236}">
                <a16:creationId xmlns:a16="http://schemas.microsoft.com/office/drawing/2014/main" id="{A7EC17D8-5918-B896-7125-5F67A3226BF3}"/>
              </a:ext>
            </a:extLst>
          </p:cNvPr>
          <p:cNvCxnSpPr>
            <a:cxnSpLocks/>
            <a:stCxn id="6" idx="3"/>
            <a:endCxn id="59" idx="2"/>
          </p:cNvCxnSpPr>
          <p:nvPr/>
        </p:nvCxnSpPr>
        <p:spPr>
          <a:xfrm flipV="1">
            <a:off x="4913653" y="916309"/>
            <a:ext cx="995284" cy="674178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25">
            <a:extLst>
              <a:ext uri="{FF2B5EF4-FFF2-40B4-BE49-F238E27FC236}">
                <a16:creationId xmlns:a16="http://schemas.microsoft.com/office/drawing/2014/main" id="{A9A68B27-B6A7-7F97-2E5F-0C5254256808}"/>
              </a:ext>
            </a:extLst>
          </p:cNvPr>
          <p:cNvCxnSpPr>
            <a:cxnSpLocks/>
            <a:stCxn id="12" idx="6"/>
            <a:endCxn id="11" idx="1"/>
          </p:cNvCxnSpPr>
          <p:nvPr/>
        </p:nvCxnSpPr>
        <p:spPr>
          <a:xfrm>
            <a:off x="8112491" y="2995815"/>
            <a:ext cx="2019921" cy="542324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25">
            <a:extLst>
              <a:ext uri="{FF2B5EF4-FFF2-40B4-BE49-F238E27FC236}">
                <a16:creationId xmlns:a16="http://schemas.microsoft.com/office/drawing/2014/main" id="{A633D5A5-FE64-0471-C58E-9BD7E098B661}"/>
              </a:ext>
            </a:extLst>
          </p:cNvPr>
          <p:cNvCxnSpPr>
            <a:cxnSpLocks/>
            <a:stCxn id="13" idx="6"/>
            <a:endCxn id="11" idx="1"/>
          </p:cNvCxnSpPr>
          <p:nvPr/>
        </p:nvCxnSpPr>
        <p:spPr>
          <a:xfrm flipV="1">
            <a:off x="8228039" y="3538139"/>
            <a:ext cx="1904373" cy="2038285"/>
          </a:xfrm>
          <a:prstGeom prst="curved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229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66E6A32D-F9D5-1A71-04D7-E497AF81FF4E}"/>
              </a:ext>
            </a:extLst>
          </p:cNvPr>
          <p:cNvSpPr/>
          <p:nvPr/>
        </p:nvSpPr>
        <p:spPr>
          <a:xfrm>
            <a:off x="314793" y="2964305"/>
            <a:ext cx="5336499" cy="464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C4AEB8B-F92F-0C37-76B8-B882B9BCA0F3}"/>
              </a:ext>
            </a:extLst>
          </p:cNvPr>
          <p:cNvSpPr/>
          <p:nvPr/>
        </p:nvSpPr>
        <p:spPr>
          <a:xfrm>
            <a:off x="314792" y="2367197"/>
            <a:ext cx="5336499" cy="464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Driver Abstraction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30217A9-7EB5-097E-D73D-D4A3E2D08B15}"/>
              </a:ext>
            </a:extLst>
          </p:cNvPr>
          <p:cNvSpPr/>
          <p:nvPr/>
        </p:nvSpPr>
        <p:spPr>
          <a:xfrm>
            <a:off x="314792" y="826969"/>
            <a:ext cx="2638270" cy="1389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BMS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8068FA3-04F0-511D-9DF1-C95A5D55DD78}"/>
              </a:ext>
            </a:extLst>
          </p:cNvPr>
          <p:cNvSpPr/>
          <p:nvPr/>
        </p:nvSpPr>
        <p:spPr>
          <a:xfrm>
            <a:off x="3117954" y="826969"/>
            <a:ext cx="2533337" cy="1407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VCU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6A19FC-1F96-6EF7-BCB0-4F4C43B2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143"/>
            <a:ext cx="5769339" cy="5613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SW Architecture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06F33E-6208-4521-BECD-A17E1D187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36089"/>
              </p:ext>
            </p:extLst>
          </p:nvPr>
        </p:nvGraphicFramePr>
        <p:xfrm>
          <a:off x="6220918" y="833120"/>
          <a:ext cx="533649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2531">
                  <a:extLst>
                    <a:ext uri="{9D8B030D-6E8A-4147-A177-3AD203B41FA5}">
                      <a16:colId xmlns:a16="http://schemas.microsoft.com/office/drawing/2014/main" val="1092618117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177188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BMS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Exec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81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BMS_comm_process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2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BMS_soc_soh_process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07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BMS_current_limit_process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1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BMS_supervisory_process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9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BMS_fault_monitor_process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75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BMS_charger_comm_process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79376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F50D7B-BBA0-ADD4-8AAD-32C193BC6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12612"/>
              </p:ext>
            </p:extLst>
          </p:nvPr>
        </p:nvGraphicFramePr>
        <p:xfrm>
          <a:off x="6220918" y="3913294"/>
          <a:ext cx="533649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492">
                  <a:extLst>
                    <a:ext uri="{9D8B030D-6E8A-4147-A177-3AD203B41FA5}">
                      <a16:colId xmlns:a16="http://schemas.microsoft.com/office/drawing/2014/main" val="1092618117"/>
                    </a:ext>
                  </a:extLst>
                </a:gridCol>
                <a:gridCol w="1514006">
                  <a:extLst>
                    <a:ext uri="{9D8B030D-6E8A-4147-A177-3AD203B41FA5}">
                      <a16:colId xmlns:a16="http://schemas.microsoft.com/office/drawing/2014/main" val="177188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Driver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Exec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81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DRV_digitalIO_process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2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DRV_analogio_process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6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DRV_uart_RX_intr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Interrupt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87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DRV_can_RX_intr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Interrupt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252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DRV_sflash_process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2515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A6C34A-3B96-337C-41FB-FC674F7D4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660124"/>
              </p:ext>
            </p:extLst>
          </p:nvPr>
        </p:nvGraphicFramePr>
        <p:xfrm>
          <a:off x="314793" y="3920094"/>
          <a:ext cx="533649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7640">
                  <a:extLst>
                    <a:ext uri="{9D8B030D-6E8A-4147-A177-3AD203B41FA5}">
                      <a16:colId xmlns:a16="http://schemas.microsoft.com/office/drawing/2014/main" val="1092618117"/>
                    </a:ext>
                  </a:extLst>
                </a:gridCol>
                <a:gridCol w="1738858">
                  <a:extLst>
                    <a:ext uri="{9D8B030D-6E8A-4147-A177-3AD203B41FA5}">
                      <a16:colId xmlns:a16="http://schemas.microsoft.com/office/drawing/2014/main" val="1771889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VCU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Exec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819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VCU_vehicle_control_process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2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VCU_mcu_comm_process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07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VCU_supervisory_process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09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VCU_fault_monitor_process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 </a:t>
                      </a:r>
                      <a:r>
                        <a:rPr lang="en-IN" dirty="0" err="1"/>
                        <a:t>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873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VCU_telematics_comm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 sec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723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986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6FAB2-FA74-2E7C-7263-D07BF810C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367" y="284813"/>
            <a:ext cx="2859374" cy="6325848"/>
          </a:xfrm>
        </p:spPr>
        <p:txBody>
          <a:bodyPr>
            <a:noAutofit/>
          </a:bodyPr>
          <a:lstStyle/>
          <a:p>
            <a:r>
              <a:rPr lang="en-IN" sz="1400" dirty="0"/>
              <a:t>Inputs Analog Signals</a:t>
            </a:r>
          </a:p>
          <a:p>
            <a:r>
              <a:rPr lang="en-IN" sz="1400" dirty="0"/>
              <a:t> Thro􀆩le Demand</a:t>
            </a:r>
          </a:p>
          <a:p>
            <a:r>
              <a:rPr lang="en-IN" sz="1400" dirty="0"/>
              <a:t> Current (Ba􀆩</a:t>
            </a:r>
            <a:r>
              <a:rPr lang="en-IN" sz="1400" dirty="0" err="1"/>
              <a:t>ery</a:t>
            </a:r>
            <a:r>
              <a:rPr lang="en-IN" sz="1400" dirty="0"/>
              <a:t>)</a:t>
            </a:r>
          </a:p>
          <a:p>
            <a:r>
              <a:rPr lang="en-IN" sz="1400" dirty="0"/>
              <a:t> Load Voltage</a:t>
            </a:r>
          </a:p>
          <a:p>
            <a:r>
              <a:rPr lang="en-IN" sz="1400" dirty="0"/>
              <a:t> Ba􀆩</a:t>
            </a:r>
            <a:r>
              <a:rPr lang="en-IN" sz="1400" dirty="0" err="1"/>
              <a:t>ery</a:t>
            </a:r>
            <a:r>
              <a:rPr lang="en-IN" sz="1400" dirty="0"/>
              <a:t> Voltage</a:t>
            </a:r>
          </a:p>
          <a:p>
            <a:r>
              <a:rPr lang="en-IN" sz="1400" dirty="0"/>
              <a:t> DC -DC Voltage</a:t>
            </a:r>
          </a:p>
          <a:p>
            <a:r>
              <a:rPr lang="en-IN" sz="1400" dirty="0"/>
              <a:t> DC-DC current</a:t>
            </a:r>
          </a:p>
          <a:p>
            <a:r>
              <a:rPr lang="en-IN" sz="1400" dirty="0"/>
              <a:t> BOX open signal</a:t>
            </a:r>
          </a:p>
          <a:p>
            <a:r>
              <a:rPr lang="en-IN" sz="1400" dirty="0"/>
              <a:t> Local Supply Current</a:t>
            </a:r>
          </a:p>
          <a:p>
            <a:r>
              <a:rPr lang="en-IN" sz="1400" dirty="0"/>
              <a:t>Input Digital Signal</a:t>
            </a:r>
          </a:p>
          <a:p>
            <a:r>
              <a:rPr lang="en-IN" sz="1400" dirty="0"/>
              <a:t> Speed</a:t>
            </a:r>
          </a:p>
          <a:p>
            <a:r>
              <a:rPr lang="en-IN" sz="1400" dirty="0"/>
              <a:t> Gear 1</a:t>
            </a:r>
          </a:p>
          <a:p>
            <a:r>
              <a:rPr lang="en-IN" sz="1400" dirty="0"/>
              <a:t> Gear 2</a:t>
            </a:r>
          </a:p>
          <a:p>
            <a:r>
              <a:rPr lang="en-IN" sz="1400" dirty="0"/>
              <a:t> ECO / Boost</a:t>
            </a:r>
          </a:p>
          <a:p>
            <a:r>
              <a:rPr lang="en-IN" sz="1400" dirty="0"/>
              <a:t> Forward / Reverse</a:t>
            </a:r>
          </a:p>
          <a:p>
            <a:r>
              <a:rPr lang="en-IN" sz="1400" dirty="0"/>
              <a:t> Clutch</a:t>
            </a:r>
          </a:p>
          <a:p>
            <a:r>
              <a:rPr lang="en-IN" sz="1400" dirty="0"/>
              <a:t> Brake</a:t>
            </a:r>
          </a:p>
          <a:p>
            <a:r>
              <a:rPr lang="en-IN" sz="1400" dirty="0"/>
              <a:t> Brake Fluid</a:t>
            </a:r>
          </a:p>
          <a:p>
            <a:r>
              <a:rPr lang="en-IN" sz="1400" dirty="0"/>
              <a:t> </a:t>
            </a:r>
            <a:r>
              <a:rPr lang="en-IN" sz="1400" dirty="0" err="1"/>
              <a:t>Igni</a:t>
            </a:r>
            <a:r>
              <a:rPr lang="en-IN" sz="1400" dirty="0"/>
              <a:t>􀆟on</a:t>
            </a:r>
          </a:p>
          <a:p>
            <a:r>
              <a:rPr lang="en-IN" sz="1400" dirty="0"/>
              <a:t> Park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AE9794-B7D9-98DA-1B2B-F06754B4B8D9}"/>
              </a:ext>
            </a:extLst>
          </p:cNvPr>
          <p:cNvSpPr txBox="1">
            <a:spLocks/>
          </p:cNvSpPr>
          <p:nvPr/>
        </p:nvSpPr>
        <p:spPr>
          <a:xfrm>
            <a:off x="3500542" y="284812"/>
            <a:ext cx="3190534" cy="632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Output Signal From VCU</a:t>
            </a:r>
          </a:p>
          <a:p>
            <a:r>
              <a:rPr lang="en-IN" sz="1400" dirty="0"/>
              <a:t> Thro􀆩le</a:t>
            </a:r>
          </a:p>
          <a:p>
            <a:r>
              <a:rPr lang="en-IN" sz="1400" dirty="0"/>
              <a:t> Signal Supply ON</a:t>
            </a:r>
          </a:p>
          <a:p>
            <a:r>
              <a:rPr lang="en-IN" sz="1400" dirty="0"/>
              <a:t> Gear 1 Change</a:t>
            </a:r>
          </a:p>
          <a:p>
            <a:r>
              <a:rPr lang="en-IN" sz="1400" dirty="0"/>
              <a:t> Gear 2 Change</a:t>
            </a:r>
          </a:p>
          <a:p>
            <a:r>
              <a:rPr lang="en-IN" sz="1400" dirty="0"/>
              <a:t> Neutral</a:t>
            </a:r>
          </a:p>
          <a:p>
            <a:r>
              <a:rPr lang="en-IN" sz="1400" dirty="0"/>
              <a:t> Brake Resistor</a:t>
            </a:r>
          </a:p>
          <a:p>
            <a:r>
              <a:rPr lang="en-IN" sz="1400" dirty="0"/>
              <a:t> Fire Alarm</a:t>
            </a:r>
          </a:p>
          <a:p>
            <a:r>
              <a:rPr lang="en-IN" sz="1400" dirty="0"/>
              <a:t> Pre-Charge ON</a:t>
            </a:r>
          </a:p>
          <a:p>
            <a:r>
              <a:rPr lang="en-IN" sz="1400" dirty="0"/>
              <a:t> Contactor ON</a:t>
            </a:r>
          </a:p>
          <a:p>
            <a:r>
              <a:rPr lang="en-IN" sz="1400" dirty="0"/>
              <a:t> Cooling Fan 1 ON</a:t>
            </a:r>
          </a:p>
          <a:p>
            <a:r>
              <a:rPr lang="en-IN" sz="1400" dirty="0"/>
              <a:t> Cooling Fan 2 ON</a:t>
            </a:r>
          </a:p>
          <a:p>
            <a:r>
              <a:rPr lang="en-IN" sz="1400" dirty="0"/>
              <a:t> Fan 3 ON</a:t>
            </a:r>
          </a:p>
          <a:p>
            <a:r>
              <a:rPr lang="en-IN" sz="1400" dirty="0"/>
              <a:t> DC -DC Unit/Board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66DBD9-39F2-6F62-682C-845E5EBCEBBA}"/>
              </a:ext>
            </a:extLst>
          </p:cNvPr>
          <p:cNvSpPr txBox="1">
            <a:spLocks/>
          </p:cNvSpPr>
          <p:nvPr/>
        </p:nvSpPr>
        <p:spPr>
          <a:xfrm>
            <a:off x="6748877" y="247337"/>
            <a:ext cx="4576997" cy="6325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/>
              <a:t> UART</a:t>
            </a:r>
          </a:p>
          <a:p>
            <a:r>
              <a:rPr lang="en-US" sz="1400" dirty="0"/>
              <a:t> CAN (Bus bi-</a:t>
            </a:r>
            <a:r>
              <a:rPr lang="en-US" sz="1400" dirty="0" err="1"/>
              <a:t>direc</a:t>
            </a:r>
            <a:r>
              <a:rPr lang="en-US" sz="1400" dirty="0"/>
              <a:t>􀆟</a:t>
            </a:r>
            <a:r>
              <a:rPr lang="en-US" sz="1400" dirty="0" err="1"/>
              <a:t>onal</a:t>
            </a:r>
            <a:r>
              <a:rPr lang="en-US" sz="1400" dirty="0"/>
              <a:t>) (Input and output through can line and how to generate)</a:t>
            </a:r>
          </a:p>
          <a:p>
            <a:r>
              <a:rPr lang="en-IN" sz="1400" dirty="0"/>
              <a:t> USB</a:t>
            </a:r>
          </a:p>
          <a:p>
            <a:r>
              <a:rPr lang="en-IN" sz="1400" dirty="0"/>
              <a:t> Internal SPI</a:t>
            </a:r>
          </a:p>
          <a:p>
            <a:r>
              <a:rPr lang="en-US" sz="1400" dirty="0"/>
              <a:t> Leakage </a:t>
            </a:r>
            <a:r>
              <a:rPr lang="en-US" sz="1400" dirty="0" err="1"/>
              <a:t>detec</a:t>
            </a:r>
            <a:r>
              <a:rPr lang="en-US" sz="1400" dirty="0"/>
              <a:t>􀆟on (Only if double pole contactor or two relays are used)</a:t>
            </a:r>
          </a:p>
          <a:p>
            <a:r>
              <a:rPr lang="en-US" sz="1400" dirty="0"/>
              <a:t> Brake Fluid Low Signal to be provided (Digital Out) to have an indica􀆟on to driver and to have a</a:t>
            </a:r>
          </a:p>
          <a:p>
            <a:r>
              <a:rPr lang="en-US" sz="1400" dirty="0"/>
              <a:t>no􀆟</a:t>
            </a:r>
            <a:r>
              <a:rPr lang="en-US" sz="1400" dirty="0" err="1"/>
              <a:t>fica</a:t>
            </a:r>
            <a:r>
              <a:rPr lang="en-US" sz="1400" dirty="0"/>
              <a:t>􀆟on to the server.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50835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366236-291B-9F75-FCA6-B3B00AE2F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081" y="1024084"/>
            <a:ext cx="5863837" cy="4809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BA1050-D466-B71E-E033-F01225F9A95F}"/>
              </a:ext>
            </a:extLst>
          </p:cNvPr>
          <p:cNvSpPr txBox="1"/>
          <p:nvPr/>
        </p:nvSpPr>
        <p:spPr>
          <a:xfrm>
            <a:off x="1307892" y="482396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TO-DO : Mapping of the hardware IOs with chip pins</a:t>
            </a:r>
          </a:p>
        </p:txBody>
      </p:sp>
    </p:spTree>
    <p:extLst>
      <p:ext uri="{BB962C8B-B14F-4D97-AF65-F5344CB8AC3E}">
        <p14:creationId xmlns:p14="http://schemas.microsoft.com/office/powerpoint/2010/main" val="3089874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33C4CB-7E38-8412-EF6B-6A8600C50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94675"/>
            <a:ext cx="3943662" cy="59810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List of Faults</a:t>
            </a:r>
          </a:p>
          <a:p>
            <a:pPr lvl="1"/>
            <a:r>
              <a:rPr lang="en-IN" dirty="0"/>
              <a:t>BMS</a:t>
            </a:r>
          </a:p>
          <a:p>
            <a:pPr marL="914400" lvl="2" indent="0">
              <a:buNone/>
            </a:pPr>
            <a:r>
              <a:rPr lang="en-IN" dirty="0"/>
              <a:t>Cell OV 1</a:t>
            </a:r>
          </a:p>
          <a:p>
            <a:pPr marL="914400" lvl="2" indent="0">
              <a:buNone/>
            </a:pPr>
            <a:r>
              <a:rPr lang="en-IN" dirty="0"/>
              <a:t>Cell OV 2</a:t>
            </a:r>
          </a:p>
          <a:p>
            <a:pPr marL="914400" lvl="2" indent="0">
              <a:buNone/>
            </a:pPr>
            <a:r>
              <a:rPr lang="en-IN" dirty="0"/>
              <a:t>Cell UV</a:t>
            </a:r>
          </a:p>
          <a:p>
            <a:pPr marL="914400" lvl="2" indent="0">
              <a:buNone/>
            </a:pPr>
            <a:r>
              <a:rPr lang="en-IN" dirty="0"/>
              <a:t>Pack OV</a:t>
            </a:r>
          </a:p>
          <a:p>
            <a:pPr marL="914400" lvl="2" indent="0">
              <a:buNone/>
            </a:pPr>
            <a:r>
              <a:rPr lang="en-IN" dirty="0"/>
              <a:t>Pack UV </a:t>
            </a:r>
          </a:p>
          <a:p>
            <a:pPr marL="914400" lvl="2" indent="0">
              <a:buNone/>
            </a:pPr>
            <a:r>
              <a:rPr lang="en-IN" dirty="0"/>
              <a:t>Charge Over Current</a:t>
            </a:r>
          </a:p>
          <a:p>
            <a:pPr marL="914400" lvl="2" indent="0">
              <a:buNone/>
            </a:pPr>
            <a:r>
              <a:rPr lang="en-IN" dirty="0"/>
              <a:t>Discharge Over Current</a:t>
            </a:r>
          </a:p>
          <a:p>
            <a:pPr marL="914400" lvl="2" indent="0">
              <a:buNone/>
            </a:pPr>
            <a:r>
              <a:rPr lang="en-IN" dirty="0"/>
              <a:t>Battery Over Voltage</a:t>
            </a:r>
          </a:p>
          <a:p>
            <a:pPr marL="914400" lvl="2" indent="0">
              <a:buNone/>
            </a:pPr>
            <a:r>
              <a:rPr lang="en-IN" dirty="0"/>
              <a:t>Battery Under Voltage</a:t>
            </a:r>
          </a:p>
          <a:p>
            <a:pPr marL="914400" lvl="2" indent="0">
              <a:buNone/>
            </a:pPr>
            <a:r>
              <a:rPr lang="en-IN" dirty="0"/>
              <a:t>Over Temp</a:t>
            </a:r>
          </a:p>
          <a:p>
            <a:pPr marL="914400" lvl="2" indent="0">
              <a:buNone/>
            </a:pPr>
            <a:r>
              <a:rPr lang="en-IN" dirty="0"/>
              <a:t>Under Temp</a:t>
            </a:r>
          </a:p>
          <a:p>
            <a:pPr marL="914400" lvl="2" indent="0">
              <a:buNone/>
            </a:pPr>
            <a:r>
              <a:rPr lang="en-IN" dirty="0"/>
              <a:t>BMS Comm Fault</a:t>
            </a:r>
          </a:p>
          <a:p>
            <a:pPr marL="914400" lvl="2" indent="0">
              <a:buNone/>
            </a:pPr>
            <a:r>
              <a:rPr lang="en-IN" dirty="0"/>
              <a:t>Current Sensor Fault</a:t>
            </a:r>
          </a:p>
          <a:p>
            <a:pPr marL="914400" lvl="2" indent="0">
              <a:buNone/>
            </a:pPr>
            <a:r>
              <a:rPr lang="en-IN" dirty="0"/>
              <a:t>Thermal Runaway</a:t>
            </a:r>
          </a:p>
          <a:p>
            <a:pPr marL="914400" lvl="2" indent="0">
              <a:buNone/>
            </a:pPr>
            <a:r>
              <a:rPr lang="en-IN" dirty="0"/>
              <a:t>Unauthorized charger fault</a:t>
            </a:r>
          </a:p>
          <a:p>
            <a:pPr marL="914400" lvl="2" indent="0">
              <a:buNone/>
            </a:pPr>
            <a:r>
              <a:rPr lang="en-IN" dirty="0"/>
              <a:t>Electrical Leakage fault</a:t>
            </a:r>
          </a:p>
          <a:p>
            <a:pPr marL="914400" lvl="2" indent="0">
              <a:buNone/>
            </a:pPr>
            <a:r>
              <a:rPr lang="en-IN" dirty="0"/>
              <a:t>Contactor Fault</a:t>
            </a:r>
          </a:p>
          <a:p>
            <a:pPr marL="914400" lvl="2" indent="0">
              <a:buNone/>
            </a:pPr>
            <a:r>
              <a:rPr lang="en-IN" dirty="0"/>
              <a:t>Cell Imbalance Warning</a:t>
            </a:r>
          </a:p>
          <a:p>
            <a:pPr marL="914400" lvl="2" indent="0">
              <a:buNone/>
            </a:pPr>
            <a:r>
              <a:rPr lang="en-IN" dirty="0"/>
              <a:t>Open Wire Fault</a:t>
            </a:r>
          </a:p>
          <a:p>
            <a:pPr marL="914400" lvl="2" indent="0">
              <a:buNone/>
            </a:pPr>
            <a:r>
              <a:rPr lang="en-IN" dirty="0"/>
              <a:t>Partial Charge Warning</a:t>
            </a:r>
          </a:p>
          <a:p>
            <a:pPr marL="914400" lvl="2" indent="0">
              <a:buNone/>
            </a:pPr>
            <a:r>
              <a:rPr lang="en-IN" dirty="0"/>
              <a:t>Thermistor Warning/Disable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A6CF36-4ADC-5F38-586B-34CA2C56C9CB}"/>
              </a:ext>
            </a:extLst>
          </p:cNvPr>
          <p:cNvSpPr txBox="1">
            <a:spLocks/>
          </p:cNvSpPr>
          <p:nvPr/>
        </p:nvSpPr>
        <p:spPr>
          <a:xfrm>
            <a:off x="5067925" y="494675"/>
            <a:ext cx="3943662" cy="5981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r>
              <a:rPr lang="en-IN" dirty="0"/>
              <a:t>List of Faults</a:t>
            </a:r>
          </a:p>
          <a:p>
            <a:pPr lvl="2"/>
            <a:r>
              <a:rPr lang="en-IN" dirty="0"/>
              <a:t>VCU</a:t>
            </a:r>
          </a:p>
          <a:p>
            <a:pPr lvl="3"/>
            <a:r>
              <a:rPr lang="en-IN" dirty="0" err="1"/>
              <a:t>Precharge</a:t>
            </a:r>
            <a:r>
              <a:rPr lang="en-IN" dirty="0"/>
              <a:t> Fault</a:t>
            </a:r>
          </a:p>
          <a:p>
            <a:pPr lvl="3"/>
            <a:r>
              <a:rPr lang="en-IN" dirty="0"/>
              <a:t>Input Voltage Fault</a:t>
            </a:r>
          </a:p>
          <a:p>
            <a:pPr lvl="3"/>
            <a:r>
              <a:rPr lang="en-IN" dirty="0"/>
              <a:t>Controller Fault</a:t>
            </a:r>
          </a:p>
          <a:p>
            <a:pPr lvl="3"/>
            <a:r>
              <a:rPr lang="en-IN" dirty="0"/>
              <a:t>DC-DC Fault</a:t>
            </a:r>
          </a:p>
          <a:p>
            <a:pPr lvl="3"/>
            <a:r>
              <a:rPr lang="en-IN" dirty="0"/>
              <a:t>Aux OC fault</a:t>
            </a:r>
          </a:p>
          <a:p>
            <a:pPr lvl="3"/>
            <a:r>
              <a:rPr lang="en-IN" dirty="0"/>
              <a:t>Brake Fluid Low Fault</a:t>
            </a:r>
          </a:p>
          <a:p>
            <a:pPr lvl="3"/>
            <a:r>
              <a:rPr lang="en-IN" dirty="0"/>
              <a:t>Throttle sense Fault</a:t>
            </a:r>
          </a:p>
          <a:p>
            <a:pPr lvl="3"/>
            <a:r>
              <a:rPr lang="en-IN" dirty="0"/>
              <a:t>Brake sense Fault</a:t>
            </a:r>
          </a:p>
          <a:p>
            <a:pPr lvl="3"/>
            <a:r>
              <a:rPr lang="en-IN" dirty="0"/>
              <a:t>BMS comm Fault</a:t>
            </a:r>
          </a:p>
          <a:p>
            <a:pPr lvl="3"/>
            <a:r>
              <a:rPr lang="en-IN" dirty="0"/>
              <a:t>MCU Fault</a:t>
            </a:r>
          </a:p>
          <a:p>
            <a:pPr lvl="3"/>
            <a:r>
              <a:rPr lang="en-IN" dirty="0"/>
              <a:t>MCU comm Fault</a:t>
            </a:r>
          </a:p>
          <a:p>
            <a:pPr lvl="3"/>
            <a:r>
              <a:rPr lang="en-IN" dirty="0"/>
              <a:t>Brake resistor Fault</a:t>
            </a:r>
          </a:p>
          <a:p>
            <a:pPr lvl="3"/>
            <a:r>
              <a:rPr lang="en-IN" dirty="0"/>
              <a:t>Over load fault</a:t>
            </a:r>
          </a:p>
          <a:p>
            <a:pPr lvl="3"/>
            <a:r>
              <a:rPr lang="en-IN" dirty="0"/>
              <a:t>Speed sense fault/Over speed fault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0401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75BDC9-5B21-CC9F-0B18-D01C2F35B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719215" cy="3897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Decision making for VCU,HW/</a:t>
            </a:r>
            <a:r>
              <a:rPr lang="en-IN" dirty="0" err="1"/>
              <a:t>fw</a:t>
            </a:r>
            <a:r>
              <a:rPr lang="en-IN" dirty="0"/>
              <a:t>/system</a:t>
            </a:r>
          </a:p>
          <a:p>
            <a:pPr marL="0" indent="0">
              <a:buNone/>
            </a:pPr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2"/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CF22DB-5177-F83D-D28E-B4CB4E676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3769"/>
              </p:ext>
            </p:extLst>
          </p:nvPr>
        </p:nvGraphicFramePr>
        <p:xfrm>
          <a:off x="838199" y="1004479"/>
          <a:ext cx="10719216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804">
                  <a:extLst>
                    <a:ext uri="{9D8B030D-6E8A-4147-A177-3AD203B41FA5}">
                      <a16:colId xmlns:a16="http://schemas.microsoft.com/office/drawing/2014/main" val="3733853454"/>
                    </a:ext>
                  </a:extLst>
                </a:gridCol>
                <a:gridCol w="2679804">
                  <a:extLst>
                    <a:ext uri="{9D8B030D-6E8A-4147-A177-3AD203B41FA5}">
                      <a16:colId xmlns:a16="http://schemas.microsoft.com/office/drawing/2014/main" val="372036810"/>
                    </a:ext>
                  </a:extLst>
                </a:gridCol>
                <a:gridCol w="2679804">
                  <a:extLst>
                    <a:ext uri="{9D8B030D-6E8A-4147-A177-3AD203B41FA5}">
                      <a16:colId xmlns:a16="http://schemas.microsoft.com/office/drawing/2014/main" val="625180725"/>
                    </a:ext>
                  </a:extLst>
                </a:gridCol>
                <a:gridCol w="2679804">
                  <a:extLst>
                    <a:ext uri="{9D8B030D-6E8A-4147-A177-3AD203B41FA5}">
                      <a16:colId xmlns:a16="http://schemas.microsoft.com/office/drawing/2014/main" val="3761877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Reason/Condition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Action/Decision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448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ptos" panose="020B0004020202020204" pitchFamily="34" charset="0"/>
                        <a:buChar char="C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4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None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17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None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5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35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27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55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0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349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31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992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>
                        <a:buClr>
                          <a:srgbClr val="000000"/>
                        </a:buClr>
                        <a:buSzPts val="1700"/>
                        <a:buFont typeface="Arial" panose="020B0604020202020204" pitchFamily="34" charset="0"/>
                        <a:buChar char="•"/>
                      </a:pP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14425" marR="9525" marT="9525" marB="0"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6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40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36969</TotalTime>
  <Words>1231</Words>
  <Application>Microsoft Office PowerPoint</Application>
  <PresentationFormat>Widescreen</PresentationFormat>
  <Paragraphs>510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Grevol VCU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Prathamesh Patki</dc:creator>
  <cp:lastModifiedBy>Prathamesh Patki</cp:lastModifiedBy>
  <cp:revision>119</cp:revision>
  <dcterms:created xsi:type="dcterms:W3CDTF">2025-08-09T11:44:04Z</dcterms:created>
  <dcterms:modified xsi:type="dcterms:W3CDTF">2025-11-09T09:59:25Z</dcterms:modified>
</cp:coreProperties>
</file>