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8" r:id="rId6"/>
    <p:sldId id="26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7FFCD-38B8-4D24-1B0B-659002117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3774D4-216A-7096-A12F-9C0DAB8AF1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E10E1F-08FA-0A45-7BAD-D0BDD17F5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FB734-C584-46AC-AF3F-E173215E49FA}" type="datetimeFigureOut">
              <a:rPr lang="en-IN" smtClean="0"/>
              <a:t>07-10-2025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EA3F18-1933-DC13-5047-2890A83B8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6D4704-7E73-2380-58C7-5620E2A5A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21844-1DB2-4902-B94F-519D1F52E8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42425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7EC6C-E5DB-0FBC-D872-243020956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D103A9-FB3A-C386-1715-7B1D61DB70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3A27D8-4E03-C5FF-3DE0-9AD558330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FB734-C584-46AC-AF3F-E173215E49FA}" type="datetimeFigureOut">
              <a:rPr lang="en-IN" smtClean="0"/>
              <a:t>07-10-2025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DBA9A-1192-011C-3E0F-355073EF7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674E4-DA53-A5FE-D033-5FA040EEB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21844-1DB2-4902-B94F-519D1F52E8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8932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D8E6A-CFD3-9509-4350-DAC7ACAE5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4D3299-3B16-B70F-040B-B20C30B8E7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C9F4EC-5C0F-66C4-F778-ED36A4B3E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FB734-C584-46AC-AF3F-E173215E49FA}" type="datetimeFigureOut">
              <a:rPr lang="en-IN" smtClean="0"/>
              <a:t>07-10-2025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50BE8-D16D-D647-A5BC-6B23567F0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F28EF-B6F8-27B8-8802-DE121C4E1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21844-1DB2-4902-B94F-519D1F52E8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39315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2ED9D-AA17-C7BC-763A-3600D88A3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55A02-A5FD-F957-7F70-51C0EB023E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7F7CDF-8D25-7626-2729-DCCEE15DA9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BE7117-8792-348D-7351-32C20873F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FB734-C584-46AC-AF3F-E173215E49FA}" type="datetimeFigureOut">
              <a:rPr lang="en-IN" smtClean="0"/>
              <a:t>07-10-2025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677B8B-24AA-FB34-F400-E4A38640A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69849C-C98E-4827-AC0B-43EFDE20B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21844-1DB2-4902-B94F-519D1F52E8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8808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F1868-CDC4-613C-7CB6-B85AE64D4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89698B-CAA6-8EAC-5B9E-52C3EA6522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40FCCE-1DAF-A719-D325-3C1541B853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0CE301-4C47-E3B4-2B82-7355EE1FB1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9E6D07-677A-FF32-F52F-4F18761FCF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18E244B-8667-531E-96FB-9C5EDA8F1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FB734-C584-46AC-AF3F-E173215E49FA}" type="datetimeFigureOut">
              <a:rPr lang="en-IN" smtClean="0"/>
              <a:t>07-10-2025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701540-A269-95A6-9AA9-EDAC99A39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249CEA8-2048-ED98-61BE-432104B1A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21844-1DB2-4902-B94F-519D1F52E8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46279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32E6B-2F07-E85E-A170-8136A4CA6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F6DC14-E548-59B1-8765-79BC7A2E8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FB734-C584-46AC-AF3F-E173215E49FA}" type="datetimeFigureOut">
              <a:rPr lang="en-IN" smtClean="0"/>
              <a:t>07-10-2025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1514B1-5FB7-8241-B8F3-EEDDFC878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F218DD-03C4-E3A0-30AD-ED19C2792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21844-1DB2-4902-B94F-519D1F52E8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28984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239DDA-4E7D-4584-0C7A-3FC59DB25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FB734-C584-46AC-AF3F-E173215E49FA}" type="datetimeFigureOut">
              <a:rPr lang="en-IN" smtClean="0"/>
              <a:t>07-10-2025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C1E1AD-58CF-1361-4600-AC7F24B9E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7561C7-BA6B-240D-C398-4E7E35568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21844-1DB2-4902-B94F-519D1F52E8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3248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9941A-1C45-F651-2C0E-BA8AEE9E2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E6F0DF-3E65-7CA1-EC18-6F0277F80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8E0BA2-4FAB-838F-27F3-4E29084B2F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1C8884-8822-8BF8-1163-44B578CFF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FB734-C584-46AC-AF3F-E173215E49FA}" type="datetimeFigureOut">
              <a:rPr lang="en-IN" smtClean="0"/>
              <a:t>07-10-2025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405A0C-1627-5FD8-E7A2-EB4BCDD33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896140-7560-4C23-C577-DA7D3A15C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21844-1DB2-4902-B94F-519D1F52E8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7399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E0BDF-35CD-CB34-5A02-F711C8ECD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B6D17A-C70D-4A15-BD7C-29E3FA436A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32406D-D348-8F70-430E-467439236A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17A7A9-15A7-DA65-40D0-84D4793A3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FB734-C584-46AC-AF3F-E173215E49FA}" type="datetimeFigureOut">
              <a:rPr lang="en-IN" smtClean="0"/>
              <a:t>07-10-2025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DBF49E-DDFA-0353-3FC1-7140448C7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8542D8-0C8F-C94D-070D-A483AE730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21844-1DB2-4902-B94F-519D1F52E8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64655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E4F50-0D00-69CF-C066-88A11A98B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1AA1D7-139D-660A-4989-627A0DE8B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8D15D9-960E-BA23-22F4-485671CB2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FB734-C584-46AC-AF3F-E173215E49FA}" type="datetimeFigureOut">
              <a:rPr lang="en-IN" smtClean="0"/>
              <a:t>07-10-2025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82D9CF-C26E-C0C5-AD32-E9D1E5A677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FC2B65-185F-CE75-3C00-8DA079B12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21844-1DB2-4902-B94F-519D1F52E8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124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44DB07A-5727-B5EC-A6DC-662D2777CF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CA9A4C-37FD-5734-2566-C11CAAF836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4DB5ED-D186-E697-B7C9-6D9CBB922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FB734-C584-46AC-AF3F-E173215E49FA}" type="datetimeFigureOut">
              <a:rPr lang="en-IN" smtClean="0"/>
              <a:t>07-10-2025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BB1EF6-1096-7F67-B8C7-14199ACE4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6DCFBF-D849-2E4E-6B1D-638263BC8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C21844-1DB2-4902-B94F-519D1F52E8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7423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0385A1-3801-C790-B7A9-18869D734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871F42-50F3-73B7-CEA9-38A7379B62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0A04A3-9EB3-39C7-6975-D01A94BDB8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EFB734-C584-46AC-AF3F-E173215E49FA}" type="datetimeFigureOut">
              <a:rPr lang="en-IN" smtClean="0"/>
              <a:t>07-10-2025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3E5F4-D1A9-B72E-099E-6B68C1F2DE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B0FF7A-5A61-1DDB-CB67-543CAE2056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C21844-1DB2-4902-B94F-519D1F52E8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1616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56F30-6E6D-E65B-DDFD-A63D2EAB2F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 err="1"/>
              <a:t>Grevol</a:t>
            </a:r>
            <a:r>
              <a:rPr lang="en-IN" dirty="0"/>
              <a:t> VCU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D4CEDC-F68D-6AA4-7873-7B39E55BF7D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47861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6FC28C8-B589-C627-1466-F929E86A0EEE}"/>
              </a:ext>
            </a:extLst>
          </p:cNvPr>
          <p:cNvSpPr/>
          <p:nvPr/>
        </p:nvSpPr>
        <p:spPr>
          <a:xfrm>
            <a:off x="4377128" y="2165218"/>
            <a:ext cx="2218544" cy="1761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Microcontroller</a:t>
            </a:r>
          </a:p>
          <a:p>
            <a:pPr algn="ctr"/>
            <a:r>
              <a:rPr lang="en-IN" dirty="0"/>
              <a:t>stm32g0b1cet6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5F10D6B-F2B4-8DED-EBA2-80B462E82F3A}"/>
              </a:ext>
            </a:extLst>
          </p:cNvPr>
          <p:cNvSpPr/>
          <p:nvPr/>
        </p:nvSpPr>
        <p:spPr>
          <a:xfrm>
            <a:off x="7257738" y="755753"/>
            <a:ext cx="1556478" cy="8032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Serial Flash</a:t>
            </a:r>
          </a:p>
          <a:p>
            <a:pPr algn="ctr"/>
            <a:r>
              <a:rPr lang="en-IN" dirty="0"/>
              <a:t>w25q512</a:t>
            </a: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7DF0FBA1-F03E-3DDA-998A-EE21CA391957}"/>
              </a:ext>
            </a:extLst>
          </p:cNvPr>
          <p:cNvCxnSpPr>
            <a:cxnSpLocks/>
            <a:stCxn id="4" idx="0"/>
            <a:endCxn id="5" idx="1"/>
          </p:cNvCxnSpPr>
          <p:nvPr/>
        </p:nvCxnSpPr>
        <p:spPr>
          <a:xfrm rot="5400000" flipH="1" flipV="1">
            <a:off x="5868143" y="775623"/>
            <a:ext cx="1007853" cy="1771338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66F5A37-0164-EE26-296D-C692A2EE56A7}"/>
              </a:ext>
            </a:extLst>
          </p:cNvPr>
          <p:cNvSpPr txBox="1"/>
          <p:nvPr/>
        </p:nvSpPr>
        <p:spPr>
          <a:xfrm>
            <a:off x="6096000" y="788032"/>
            <a:ext cx="6345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SPI</a:t>
            </a:r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D03E754-D452-55DD-AFAD-7DD9007CF764}"/>
              </a:ext>
            </a:extLst>
          </p:cNvPr>
          <p:cNvCxnSpPr>
            <a:cxnSpLocks/>
          </p:cNvCxnSpPr>
          <p:nvPr/>
        </p:nvCxnSpPr>
        <p:spPr>
          <a:xfrm rot="10800000" flipV="1">
            <a:off x="2758190" y="3231832"/>
            <a:ext cx="1618938" cy="2293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2A68424-1295-E180-1FF3-0401D1E09930}"/>
              </a:ext>
            </a:extLst>
          </p:cNvPr>
          <p:cNvSpPr txBox="1"/>
          <p:nvPr/>
        </p:nvSpPr>
        <p:spPr>
          <a:xfrm>
            <a:off x="2989289" y="3280771"/>
            <a:ext cx="1156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CAN Bus - Internal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9EA2FBA-3C4E-68FE-B04B-F9E4D131AE4F}"/>
              </a:ext>
            </a:extLst>
          </p:cNvPr>
          <p:cNvCxnSpPr>
            <a:cxnSpLocks/>
            <a:stCxn id="4" idx="2"/>
          </p:cNvCxnSpPr>
          <p:nvPr/>
        </p:nvCxnSpPr>
        <p:spPr>
          <a:xfrm rot="5400000">
            <a:off x="4917760" y="4489396"/>
            <a:ext cx="1130934" cy="634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89CCCB3-2D3D-CE60-101D-F394983EF706}"/>
              </a:ext>
            </a:extLst>
          </p:cNvPr>
          <p:cNvCxnSpPr>
            <a:cxnSpLocks/>
            <a:stCxn id="4" idx="2"/>
          </p:cNvCxnSpPr>
          <p:nvPr/>
        </p:nvCxnSpPr>
        <p:spPr>
          <a:xfrm rot="5400000">
            <a:off x="4706755" y="4272041"/>
            <a:ext cx="1124584" cy="43470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D023D9E-D6A7-6881-63A6-CBB75145A54E}"/>
              </a:ext>
            </a:extLst>
          </p:cNvPr>
          <p:cNvSpPr txBox="1"/>
          <p:nvPr/>
        </p:nvSpPr>
        <p:spPr>
          <a:xfrm>
            <a:off x="5480053" y="4323450"/>
            <a:ext cx="1156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UART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FC756A7-C881-98EB-F103-D2DCCC2F9995}"/>
              </a:ext>
            </a:extLst>
          </p:cNvPr>
          <p:cNvSpPr txBox="1"/>
          <p:nvPr/>
        </p:nvSpPr>
        <p:spPr>
          <a:xfrm>
            <a:off x="5269045" y="5072936"/>
            <a:ext cx="8269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/>
              <a:t>BMS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C08E0A6-B854-54E2-1269-0AD803C3B905}"/>
              </a:ext>
            </a:extLst>
          </p:cNvPr>
          <p:cNvSpPr txBox="1"/>
          <p:nvPr/>
        </p:nvSpPr>
        <p:spPr>
          <a:xfrm>
            <a:off x="4146030" y="5072936"/>
            <a:ext cx="12591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/>
              <a:t>Telematics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DA5B1A-EDCC-8154-2AA1-C3627F5C87B5}"/>
              </a:ext>
            </a:extLst>
          </p:cNvPr>
          <p:cNvSpPr txBox="1"/>
          <p:nvPr/>
        </p:nvSpPr>
        <p:spPr>
          <a:xfrm>
            <a:off x="1993693" y="3188438"/>
            <a:ext cx="125917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/>
              <a:t>MCU/ Cluster/</a:t>
            </a:r>
          </a:p>
          <a:p>
            <a:r>
              <a:rPr lang="en-IN" sz="1400" dirty="0"/>
              <a:t>Telematics</a:t>
            </a:r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A3AE9C6F-1381-7CCC-BEDC-95D5EFC608AB}"/>
              </a:ext>
            </a:extLst>
          </p:cNvPr>
          <p:cNvCxnSpPr>
            <a:cxnSpLocks/>
          </p:cNvCxnSpPr>
          <p:nvPr/>
        </p:nvCxnSpPr>
        <p:spPr>
          <a:xfrm rot="10800000" flipV="1">
            <a:off x="2758190" y="2811549"/>
            <a:ext cx="1618938" cy="2293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2684CB1-7300-5197-B3A4-047A2935D5E2}"/>
              </a:ext>
            </a:extLst>
          </p:cNvPr>
          <p:cNvSpPr txBox="1"/>
          <p:nvPr/>
        </p:nvSpPr>
        <p:spPr>
          <a:xfrm>
            <a:off x="2989289" y="2165218"/>
            <a:ext cx="1156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CAN Bus - External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79EF94-C519-9FAF-C404-88E78983EBC0}"/>
              </a:ext>
            </a:extLst>
          </p:cNvPr>
          <p:cNvSpPr txBox="1"/>
          <p:nvPr/>
        </p:nvSpPr>
        <p:spPr>
          <a:xfrm>
            <a:off x="2128603" y="2334974"/>
            <a:ext cx="12591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/>
              <a:t>Charger/ Debug</a:t>
            </a:r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B8B0980-8713-EEFB-A584-28F7181EC239}"/>
              </a:ext>
            </a:extLst>
          </p:cNvPr>
          <p:cNvCxnSpPr>
            <a:cxnSpLocks/>
          </p:cNvCxnSpPr>
          <p:nvPr/>
        </p:nvCxnSpPr>
        <p:spPr>
          <a:xfrm rot="10800000" flipV="1">
            <a:off x="6585578" y="2351856"/>
            <a:ext cx="1618938" cy="2293"/>
          </a:xfrm>
          <a:prstGeom prst="bentConnector3">
            <a:avLst>
              <a:gd name="adj1" fmla="val 50000"/>
            </a:avLst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7F97E33D-BA56-DC43-3842-6CB1C6D73253}"/>
              </a:ext>
            </a:extLst>
          </p:cNvPr>
          <p:cNvSpPr txBox="1"/>
          <p:nvPr/>
        </p:nvSpPr>
        <p:spPr>
          <a:xfrm>
            <a:off x="7357671" y="1982524"/>
            <a:ext cx="1156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Analog In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7957D05-0B15-6E5E-CB45-9AD4300F0A91}"/>
              </a:ext>
            </a:extLst>
          </p:cNvPr>
          <p:cNvCxnSpPr>
            <a:cxnSpLocks/>
          </p:cNvCxnSpPr>
          <p:nvPr/>
        </p:nvCxnSpPr>
        <p:spPr>
          <a:xfrm rot="10800000" flipV="1">
            <a:off x="6585578" y="2955806"/>
            <a:ext cx="1618938" cy="2293"/>
          </a:xfrm>
          <a:prstGeom prst="bentConnector3">
            <a:avLst>
              <a:gd name="adj1" fmla="val 50000"/>
            </a:avLst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7D8970C6-8B50-80DB-EB0A-5D353E336FCA}"/>
              </a:ext>
            </a:extLst>
          </p:cNvPr>
          <p:cNvSpPr txBox="1"/>
          <p:nvPr/>
        </p:nvSpPr>
        <p:spPr>
          <a:xfrm>
            <a:off x="7357670" y="2584181"/>
            <a:ext cx="1156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Digital In</a:t>
            </a:r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5766C289-99AB-6D73-25F7-B99221A99285}"/>
              </a:ext>
            </a:extLst>
          </p:cNvPr>
          <p:cNvCxnSpPr>
            <a:cxnSpLocks/>
          </p:cNvCxnSpPr>
          <p:nvPr/>
        </p:nvCxnSpPr>
        <p:spPr>
          <a:xfrm>
            <a:off x="6636794" y="3295764"/>
            <a:ext cx="1567722" cy="10407"/>
          </a:xfrm>
          <a:prstGeom prst="bentConnector3">
            <a:avLst>
              <a:gd name="adj1" fmla="val 50000"/>
            </a:avLst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18B69E5-AF88-438E-FB9B-D9C84F7EB3FF}"/>
              </a:ext>
            </a:extLst>
          </p:cNvPr>
          <p:cNvSpPr txBox="1"/>
          <p:nvPr/>
        </p:nvSpPr>
        <p:spPr>
          <a:xfrm>
            <a:off x="7457606" y="3244334"/>
            <a:ext cx="1618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Digital Out</a:t>
            </a:r>
          </a:p>
        </p:txBody>
      </p: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AF0EAB5E-E384-8F29-0406-20EA03F5049C}"/>
              </a:ext>
            </a:extLst>
          </p:cNvPr>
          <p:cNvCxnSpPr>
            <a:cxnSpLocks/>
          </p:cNvCxnSpPr>
          <p:nvPr/>
        </p:nvCxnSpPr>
        <p:spPr>
          <a:xfrm>
            <a:off x="6623152" y="3717207"/>
            <a:ext cx="1567722" cy="10407"/>
          </a:xfrm>
          <a:prstGeom prst="bentConnector3">
            <a:avLst>
              <a:gd name="adj1" fmla="val 50000"/>
            </a:avLst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1EBBDFB1-2CE5-CE8F-DA02-CF1A7CBF2449}"/>
              </a:ext>
            </a:extLst>
          </p:cNvPr>
          <p:cNvSpPr txBox="1"/>
          <p:nvPr/>
        </p:nvSpPr>
        <p:spPr>
          <a:xfrm>
            <a:off x="7420655" y="3785680"/>
            <a:ext cx="1618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PWM Out*</a:t>
            </a:r>
          </a:p>
        </p:txBody>
      </p:sp>
    </p:spTree>
    <p:extLst>
      <p:ext uri="{BB962C8B-B14F-4D97-AF65-F5344CB8AC3E}">
        <p14:creationId xmlns:p14="http://schemas.microsoft.com/office/powerpoint/2010/main" val="991003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A0832E-0E8B-DC21-649F-587401693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407" y="692787"/>
            <a:ext cx="3928672" cy="5472425"/>
          </a:xfrm>
        </p:spPr>
        <p:txBody>
          <a:bodyPr/>
          <a:lstStyle/>
          <a:p>
            <a:r>
              <a:rPr lang="en-IN" dirty="0"/>
              <a:t>Analog Inputs</a:t>
            </a:r>
          </a:p>
          <a:p>
            <a:pPr lvl="1"/>
            <a:r>
              <a:rPr lang="en-IN" dirty="0"/>
              <a:t>Throttle</a:t>
            </a:r>
          </a:p>
          <a:p>
            <a:pPr lvl="1"/>
            <a:r>
              <a:rPr lang="en-IN" dirty="0"/>
              <a:t>Leakage</a:t>
            </a:r>
          </a:p>
          <a:p>
            <a:pPr lvl="1"/>
            <a:r>
              <a:rPr lang="en-IN" dirty="0"/>
              <a:t>Supply Current</a:t>
            </a:r>
          </a:p>
          <a:p>
            <a:pPr lvl="1"/>
            <a:r>
              <a:rPr lang="en-IN" dirty="0"/>
              <a:t>Charge current</a:t>
            </a:r>
          </a:p>
          <a:p>
            <a:pPr lvl="1"/>
            <a:r>
              <a:rPr lang="en-IN" dirty="0"/>
              <a:t>Discharge current</a:t>
            </a:r>
          </a:p>
          <a:p>
            <a:pPr lvl="1"/>
            <a:r>
              <a:rPr lang="en-IN" dirty="0"/>
              <a:t>Supply voltage</a:t>
            </a:r>
          </a:p>
          <a:p>
            <a:pPr lvl="1"/>
            <a:r>
              <a:rPr lang="en-IN" dirty="0" err="1"/>
              <a:t>Dcdc</a:t>
            </a:r>
            <a:r>
              <a:rPr lang="en-IN" dirty="0"/>
              <a:t> converter voltage</a:t>
            </a:r>
          </a:p>
          <a:p>
            <a:pPr lvl="1"/>
            <a:r>
              <a:rPr lang="en-IN" dirty="0"/>
              <a:t>Load Voltage</a:t>
            </a:r>
          </a:p>
          <a:p>
            <a:pPr lvl="1"/>
            <a:r>
              <a:rPr lang="en-IN" dirty="0"/>
              <a:t>DC bus voltage</a:t>
            </a:r>
          </a:p>
          <a:p>
            <a:pPr lvl="1"/>
            <a:endParaRPr lang="en-IN" dirty="0"/>
          </a:p>
          <a:p>
            <a:pPr lvl="1"/>
            <a:endParaRPr lang="en-IN" dirty="0"/>
          </a:p>
          <a:p>
            <a:pPr lvl="1"/>
            <a:endParaRPr lang="en-IN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A6FC27C-3F96-43F8-DCCD-19642C1DA753}"/>
              </a:ext>
            </a:extLst>
          </p:cNvPr>
          <p:cNvSpPr txBox="1">
            <a:spLocks/>
          </p:cNvSpPr>
          <p:nvPr/>
        </p:nvSpPr>
        <p:spPr>
          <a:xfrm>
            <a:off x="4586991" y="696026"/>
            <a:ext cx="3928672" cy="5472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Digital Inputs</a:t>
            </a:r>
          </a:p>
          <a:p>
            <a:pPr lvl="1"/>
            <a:r>
              <a:rPr lang="en-IN" dirty="0"/>
              <a:t>Brake</a:t>
            </a:r>
          </a:p>
          <a:p>
            <a:pPr lvl="1"/>
            <a:r>
              <a:rPr lang="en-IN" dirty="0"/>
              <a:t>Charger connection</a:t>
            </a:r>
          </a:p>
          <a:p>
            <a:pPr lvl="1"/>
            <a:r>
              <a:rPr lang="en-IN" dirty="0"/>
              <a:t>Parking</a:t>
            </a:r>
          </a:p>
          <a:p>
            <a:pPr lvl="1"/>
            <a:r>
              <a:rPr lang="en-IN" dirty="0"/>
              <a:t>Ignition</a:t>
            </a:r>
          </a:p>
          <a:p>
            <a:pPr lvl="1"/>
            <a:endParaRPr lang="en-IN" dirty="0"/>
          </a:p>
          <a:p>
            <a:pPr lvl="1"/>
            <a:endParaRPr lang="en-IN" dirty="0"/>
          </a:p>
          <a:p>
            <a:pPr lvl="1"/>
            <a:endParaRPr lang="en-IN" dirty="0"/>
          </a:p>
          <a:p>
            <a:pPr lvl="1"/>
            <a:endParaRPr lang="en-IN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FCA891B-BDBA-ABA3-14CB-672FB29CEC4B}"/>
              </a:ext>
            </a:extLst>
          </p:cNvPr>
          <p:cNvSpPr txBox="1">
            <a:spLocks/>
          </p:cNvSpPr>
          <p:nvPr/>
        </p:nvSpPr>
        <p:spPr>
          <a:xfrm>
            <a:off x="8263328" y="696026"/>
            <a:ext cx="3928672" cy="5472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Digital Outputs</a:t>
            </a:r>
          </a:p>
          <a:p>
            <a:pPr lvl="1"/>
            <a:r>
              <a:rPr lang="en-IN" dirty="0"/>
              <a:t>Alarm</a:t>
            </a:r>
          </a:p>
          <a:p>
            <a:pPr lvl="1"/>
            <a:r>
              <a:rPr lang="en-IN" dirty="0"/>
              <a:t>Clutch</a:t>
            </a:r>
          </a:p>
          <a:p>
            <a:pPr lvl="1"/>
            <a:r>
              <a:rPr lang="en-IN" dirty="0"/>
              <a:t>Gear</a:t>
            </a:r>
          </a:p>
          <a:p>
            <a:pPr lvl="1"/>
            <a:endParaRPr lang="en-IN" dirty="0"/>
          </a:p>
          <a:p>
            <a:pPr lvl="1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73061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F6A0EAA-1C11-EEEA-293A-95AE2E30EF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296474"/>
              </p:ext>
            </p:extLst>
          </p:nvPr>
        </p:nvGraphicFramePr>
        <p:xfrm>
          <a:off x="1792155" y="0"/>
          <a:ext cx="8026400" cy="7680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13200">
                  <a:extLst>
                    <a:ext uri="{9D8B030D-6E8A-4147-A177-3AD203B41FA5}">
                      <a16:colId xmlns:a16="http://schemas.microsoft.com/office/drawing/2014/main" val="2867988768"/>
                    </a:ext>
                  </a:extLst>
                </a:gridCol>
                <a:gridCol w="4013200">
                  <a:extLst>
                    <a:ext uri="{9D8B030D-6E8A-4147-A177-3AD203B41FA5}">
                      <a16:colId xmlns:a16="http://schemas.microsoft.com/office/drawing/2014/main" val="552241651"/>
                    </a:ext>
                  </a:extLst>
                </a:gridCol>
              </a:tblGrid>
              <a:tr h="258743">
                <a:tc>
                  <a:txBody>
                    <a:bodyPr/>
                    <a:lstStyle/>
                    <a:p>
                      <a:endParaRPr lang="en-IN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837736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Pre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8893010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 err="1"/>
                        <a:t>Vbs</a:t>
                      </a:r>
                      <a:endParaRPr lang="en-IN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5908308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 err="1"/>
                        <a:t>Vls</a:t>
                      </a:r>
                      <a:endParaRPr lang="en-IN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8216568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Fire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8293370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Pb12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 err="1"/>
                        <a:t>Dcon</a:t>
                      </a:r>
                      <a:endParaRPr lang="en-IN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1181511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Pb13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Sdr1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0289448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Pb14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720703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Pb15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Adio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1072537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Pa9/pa10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 err="1"/>
                        <a:t>Uart</a:t>
                      </a:r>
                      <a:endParaRPr lang="en-IN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012768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Pc6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 err="1"/>
                        <a:t>Brkre</a:t>
                      </a:r>
                      <a:endParaRPr lang="en-IN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356567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 err="1"/>
                        <a:t>Cont</a:t>
                      </a:r>
                      <a:endParaRPr lang="en-IN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4114932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 err="1"/>
                        <a:t>Dirc</a:t>
                      </a:r>
                      <a:endParaRPr lang="en-IN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681181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7837060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Brak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704760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Tac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5563453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Pd0/pd1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Can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6118497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Pd2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Clut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590247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Pd3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 err="1"/>
                        <a:t>Nss</a:t>
                      </a:r>
                      <a:endParaRPr lang="en-IN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263078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Pb6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 err="1"/>
                        <a:t>Trc</a:t>
                      </a:r>
                      <a:endParaRPr lang="en-IN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4874572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Pb7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7776113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Disi – </a:t>
                      </a:r>
                      <a:r>
                        <a:rPr lang="en-IN" sz="1200" dirty="0" err="1"/>
                        <a:t>curr</a:t>
                      </a:r>
                      <a:r>
                        <a:rPr lang="en-IN" sz="1200" dirty="0"/>
                        <a:t> sense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1024932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Ci – </a:t>
                      </a:r>
                      <a:r>
                        <a:rPr lang="en-IN" sz="1200" dirty="0" err="1"/>
                        <a:t>curr</a:t>
                      </a:r>
                      <a:r>
                        <a:rPr lang="en-IN" sz="1200" dirty="0"/>
                        <a:t> sense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8139122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Pb0/pb2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dirty="0"/>
                        <a:t>Ad9/ad10 – LEAKAGE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369597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dirty="0"/>
                        <a:t>AD7 – supply </a:t>
                      </a:r>
                      <a:r>
                        <a:rPr lang="en-IN" sz="1200" dirty="0" err="1"/>
                        <a:t>curr</a:t>
                      </a:r>
                      <a:r>
                        <a:rPr lang="en-IN" sz="1200" dirty="0"/>
                        <a:t> sense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924863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dirty="0"/>
                        <a:t>Ad5- throttle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121568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dirty="0"/>
                        <a:t>Ad6-dcdc voltage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863416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IN" sz="1200" dirty="0"/>
                        <a:t>Pa7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dirty="0"/>
                        <a:t>Ad8-supply voltage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1991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15663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B3AD4DA-D36C-19F4-A129-5104E592BB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0336612"/>
              </p:ext>
            </p:extLst>
          </p:nvPr>
        </p:nvGraphicFramePr>
        <p:xfrm>
          <a:off x="374754" y="373255"/>
          <a:ext cx="5261547" cy="460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6031">
                  <a:extLst>
                    <a:ext uri="{9D8B030D-6E8A-4147-A177-3AD203B41FA5}">
                      <a16:colId xmlns:a16="http://schemas.microsoft.com/office/drawing/2014/main" val="1608177303"/>
                    </a:ext>
                  </a:extLst>
                </a:gridCol>
                <a:gridCol w="2142992">
                  <a:extLst>
                    <a:ext uri="{9D8B030D-6E8A-4147-A177-3AD203B41FA5}">
                      <a16:colId xmlns:a16="http://schemas.microsoft.com/office/drawing/2014/main" val="2085434839"/>
                    </a:ext>
                  </a:extLst>
                </a:gridCol>
                <a:gridCol w="2252524">
                  <a:extLst>
                    <a:ext uri="{9D8B030D-6E8A-4147-A177-3AD203B41FA5}">
                      <a16:colId xmlns:a16="http://schemas.microsoft.com/office/drawing/2014/main" val="1997124189"/>
                    </a:ext>
                  </a:extLst>
                </a:gridCol>
              </a:tblGrid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UC Pin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Signal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Type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627739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PA14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Brak- brake pressed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377202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PA13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Ing – ignition in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121385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PA12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Dirc</a:t>
                      </a:r>
                      <a:r>
                        <a:rPr lang="en-US" sz="1600" dirty="0"/>
                        <a:t> – drive direction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4624490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PA11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Cont</a:t>
                      </a:r>
                      <a:r>
                        <a:rPr lang="en-US" sz="1600" dirty="0"/>
                        <a:t>-contactor out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5166930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PA10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Urx</a:t>
                      </a:r>
                      <a:r>
                        <a:rPr lang="en-US" sz="1600" dirty="0"/>
                        <a:t> – </a:t>
                      </a:r>
                      <a:r>
                        <a:rPr lang="en-US" sz="1600" dirty="0" err="1"/>
                        <a:t>uart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rx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UART RX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624626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PC7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Park – parking in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4476029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PC6</a:t>
                      </a:r>
                      <a:endParaRPr lang="en-IN" sz="16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brkre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 – braking resistor out</a:t>
                      </a:r>
                      <a:endParaRPr lang="en-IN" sz="16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chemeClr val="tx1"/>
                          </a:solidFill>
                        </a:rPr>
                        <a:t>GPOut</a:t>
                      </a:r>
                      <a:endParaRPr lang="en-IN" sz="16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9910563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PA9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Utx</a:t>
                      </a:r>
                      <a:r>
                        <a:rPr lang="en-US" sz="1600" dirty="0"/>
                        <a:t> – </a:t>
                      </a:r>
                      <a:r>
                        <a:rPr lang="en-US" sz="1600" dirty="0" err="1"/>
                        <a:t>uart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tx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UART TX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363859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PA8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F3-fan 3 out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1673622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PB15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Adio-buzzer out </a:t>
                      </a:r>
                      <a:r>
                        <a:rPr lang="en-US" sz="1600" dirty="0" err="1"/>
                        <a:t>pwm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PWM 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171201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PB14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Son-24W supply ctrl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321802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PB13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Sdr1-7W supply ctrl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489436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FB2F00E-B25C-A6BD-AB22-1EBE15D798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9831350"/>
              </p:ext>
            </p:extLst>
          </p:nvPr>
        </p:nvGraphicFramePr>
        <p:xfrm>
          <a:off x="6096000" y="373255"/>
          <a:ext cx="4636958" cy="533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8292">
                  <a:extLst>
                    <a:ext uri="{9D8B030D-6E8A-4147-A177-3AD203B41FA5}">
                      <a16:colId xmlns:a16="http://schemas.microsoft.com/office/drawing/2014/main" val="1608177303"/>
                    </a:ext>
                  </a:extLst>
                </a:gridCol>
                <a:gridCol w="1914333">
                  <a:extLst>
                    <a:ext uri="{9D8B030D-6E8A-4147-A177-3AD203B41FA5}">
                      <a16:colId xmlns:a16="http://schemas.microsoft.com/office/drawing/2014/main" val="2085434839"/>
                    </a:ext>
                  </a:extLst>
                </a:gridCol>
                <a:gridCol w="1914333">
                  <a:extLst>
                    <a:ext uri="{9D8B030D-6E8A-4147-A177-3AD203B41FA5}">
                      <a16:colId xmlns:a16="http://schemas.microsoft.com/office/drawing/2014/main" val="2298715663"/>
                    </a:ext>
                  </a:extLst>
                </a:gridCol>
              </a:tblGrid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UC Pin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Signal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Type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627739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PB12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Dcon</a:t>
                      </a:r>
                      <a:r>
                        <a:rPr lang="en-US" sz="1600" dirty="0"/>
                        <a:t> – DC-DC ON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377202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PB11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Gr01 – gear out1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121385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PB10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Gr02 - gear out 2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4624490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PB2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AD10 – leakage LL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ADC 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5166930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PB1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Fire – fire alarm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624626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PB0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AD9 – leakage HL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ADC 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4476029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PA7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AD8 – 12v supply v sense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ADC 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9910563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PA6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AD7 – batt internal current – 20A max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ADC 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363859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PA5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AD6 – </a:t>
                      </a:r>
                      <a:r>
                        <a:rPr lang="en-US" sz="1600" dirty="0" err="1"/>
                        <a:t>dcdc</a:t>
                      </a:r>
                      <a:r>
                        <a:rPr lang="en-US" sz="1600" dirty="0"/>
                        <a:t> con out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ADC 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1673622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PA4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Ad5 – throttle in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ADC 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171201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PA3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Ci – charging current (400A)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ADC 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321802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PA2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Disi – discharging </a:t>
                      </a:r>
                      <a:r>
                        <a:rPr lang="en-US" sz="1600" dirty="0" err="1"/>
                        <a:t>curr</a:t>
                      </a:r>
                      <a:r>
                        <a:rPr lang="en-US" sz="1600" dirty="0"/>
                        <a:t> (400A)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ADC 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4894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7438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DBF6522-BA16-B1C6-E8FC-88E9C1437C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7728182"/>
              </p:ext>
            </p:extLst>
          </p:nvPr>
        </p:nvGraphicFramePr>
        <p:xfrm>
          <a:off x="959370" y="493176"/>
          <a:ext cx="5136629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443">
                  <a:extLst>
                    <a:ext uri="{9D8B030D-6E8A-4147-A177-3AD203B41FA5}">
                      <a16:colId xmlns:a16="http://schemas.microsoft.com/office/drawing/2014/main" val="1608177303"/>
                    </a:ext>
                  </a:extLst>
                </a:gridCol>
                <a:gridCol w="2130093">
                  <a:extLst>
                    <a:ext uri="{9D8B030D-6E8A-4147-A177-3AD203B41FA5}">
                      <a16:colId xmlns:a16="http://schemas.microsoft.com/office/drawing/2014/main" val="2085434839"/>
                    </a:ext>
                  </a:extLst>
                </a:gridCol>
                <a:gridCol w="2130093">
                  <a:extLst>
                    <a:ext uri="{9D8B030D-6E8A-4147-A177-3AD203B41FA5}">
                      <a16:colId xmlns:a16="http://schemas.microsoft.com/office/drawing/2014/main" val="992516224"/>
                    </a:ext>
                  </a:extLst>
                </a:gridCol>
              </a:tblGrid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UC Pin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Signal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Type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627739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PC13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Pre- </a:t>
                      </a:r>
                      <a:r>
                        <a:rPr lang="en-US" sz="1600" dirty="0" err="1"/>
                        <a:t>precharge</a:t>
                      </a:r>
                      <a:r>
                        <a:rPr lang="en-US" sz="1600" dirty="0"/>
                        <a:t> out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GP 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377202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PC14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OSCIn</a:t>
                      </a:r>
                      <a:r>
                        <a:rPr lang="en-US" sz="1600" dirty="0"/>
                        <a:t> 32khz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121385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PC15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OSCou</a:t>
                      </a:r>
                      <a:r>
                        <a:rPr lang="en-US" sz="1600" dirty="0"/>
                        <a:t> 32khz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4624490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VBAT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5166930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VRE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624626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VDD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4476029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VSS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9910563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PF0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F1- fan 1 out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363859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PF1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F2 – fan2 out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1673622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</a:rPr>
                        <a:t>PF2</a:t>
                      </a: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rgbClr val="FF0000"/>
                          </a:solidFill>
                        </a:rPr>
                        <a:t>nrst</a:t>
                      </a: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171201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PA0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Vbs</a:t>
                      </a:r>
                      <a:r>
                        <a:rPr lang="en-US" sz="1600" dirty="0"/>
                        <a:t>-batt v before contactor(77.5V)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ADC 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321802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PA1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Vls-battv</a:t>
                      </a:r>
                      <a:r>
                        <a:rPr lang="en-US" sz="1600" dirty="0"/>
                        <a:t> after contactor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ADC 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489436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9B109BC-FDF9-4612-5476-C63A22DE42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0578484"/>
              </p:ext>
            </p:extLst>
          </p:nvPr>
        </p:nvGraphicFramePr>
        <p:xfrm>
          <a:off x="6370818" y="493176"/>
          <a:ext cx="5136627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443">
                  <a:extLst>
                    <a:ext uri="{9D8B030D-6E8A-4147-A177-3AD203B41FA5}">
                      <a16:colId xmlns:a16="http://schemas.microsoft.com/office/drawing/2014/main" val="1608177303"/>
                    </a:ext>
                  </a:extLst>
                </a:gridCol>
                <a:gridCol w="2130092">
                  <a:extLst>
                    <a:ext uri="{9D8B030D-6E8A-4147-A177-3AD203B41FA5}">
                      <a16:colId xmlns:a16="http://schemas.microsoft.com/office/drawing/2014/main" val="2085434839"/>
                    </a:ext>
                  </a:extLst>
                </a:gridCol>
                <a:gridCol w="2130092">
                  <a:extLst>
                    <a:ext uri="{9D8B030D-6E8A-4147-A177-3AD203B41FA5}">
                      <a16:colId xmlns:a16="http://schemas.microsoft.com/office/drawing/2014/main" val="1031204194"/>
                    </a:ext>
                  </a:extLst>
                </a:gridCol>
              </a:tblGrid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UC Pin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Signal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Type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627739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</a:rPr>
                        <a:t>PB9</a:t>
                      </a: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</a:rPr>
                        <a:t>Grin2 – gear in?</a:t>
                      </a: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rgbClr val="FF0000"/>
                          </a:solidFill>
                        </a:rPr>
                        <a:t>GPIn</a:t>
                      </a: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377202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</a:rPr>
                        <a:t>PB8</a:t>
                      </a: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</a:rPr>
                        <a:t>Grin1 – gear in?</a:t>
                      </a: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rgbClr val="FF0000"/>
                          </a:solidFill>
                        </a:rPr>
                        <a:t>GPIn</a:t>
                      </a: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1213854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PB7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Mode- </a:t>
                      </a:r>
                      <a:r>
                        <a:rPr lang="en-US" sz="1600" dirty="0" err="1"/>
                        <a:t>fwd</a:t>
                      </a:r>
                      <a:r>
                        <a:rPr lang="en-US" sz="1600" dirty="0"/>
                        <a:t>-rev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4624490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PB6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TRC – </a:t>
                      </a:r>
                      <a:r>
                        <a:rPr lang="en-US" sz="1600" dirty="0" err="1"/>
                        <a:t>PWMOut</a:t>
                      </a:r>
                      <a:r>
                        <a:rPr lang="en-US" sz="1600" dirty="0"/>
                        <a:t> Throttle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PWM 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5166930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PB5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MOSI- SFLASH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SPI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624626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PB4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MISO- SFLASH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SPI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4476029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PB3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SCK- SFLASH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SPI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9910563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PD3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NSS – SFLASH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363859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PD2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Clutch out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GPOut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1673622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PD1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FDCTX– CAN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CAN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3171201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PD0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FDCRX-CAN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CAN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321802"/>
                  </a:ext>
                </a:extLst>
              </a:tr>
              <a:tr h="258743">
                <a:tc>
                  <a:txBody>
                    <a:bodyPr/>
                    <a:lstStyle/>
                    <a:p>
                      <a:r>
                        <a:rPr lang="en-US" sz="1600" dirty="0"/>
                        <a:t>PA15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TAC – speed in/ Freq In</a:t>
                      </a:r>
                      <a:endParaRPr lang="en-IN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Freq In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4894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04968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84D22B-4074-5728-D7EA-6CC5990B68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94675"/>
            <a:ext cx="5112895" cy="5981076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IN" dirty="0"/>
              <a:t>MODULES</a:t>
            </a:r>
          </a:p>
          <a:p>
            <a:pPr lvl="1"/>
            <a:r>
              <a:rPr lang="en-IN" dirty="0"/>
              <a:t>Battery Management</a:t>
            </a:r>
          </a:p>
          <a:p>
            <a:pPr lvl="2"/>
            <a:r>
              <a:rPr lang="en-IN" dirty="0"/>
              <a:t>UART Communication with Battery monitor</a:t>
            </a:r>
          </a:p>
          <a:p>
            <a:pPr lvl="2"/>
            <a:r>
              <a:rPr lang="en-IN" dirty="0"/>
              <a:t>SOC</a:t>
            </a:r>
          </a:p>
          <a:p>
            <a:pPr lvl="2"/>
            <a:r>
              <a:rPr lang="en-IN" dirty="0"/>
              <a:t>DCL-CCL</a:t>
            </a:r>
          </a:p>
          <a:p>
            <a:pPr lvl="2"/>
            <a:r>
              <a:rPr lang="en-IN" dirty="0"/>
              <a:t>SOH</a:t>
            </a:r>
          </a:p>
          <a:p>
            <a:pPr lvl="2"/>
            <a:r>
              <a:rPr lang="en-IN" dirty="0"/>
              <a:t>Supervisory and Faults </a:t>
            </a:r>
          </a:p>
          <a:p>
            <a:pPr lvl="2"/>
            <a:r>
              <a:rPr lang="en-IN" dirty="0"/>
              <a:t>Charger Interface</a:t>
            </a:r>
          </a:p>
          <a:p>
            <a:pPr lvl="2"/>
            <a:r>
              <a:rPr lang="en-IN" dirty="0"/>
              <a:t>DC-DC monitoring</a:t>
            </a:r>
          </a:p>
          <a:p>
            <a:pPr lvl="1"/>
            <a:r>
              <a:rPr lang="en-IN" dirty="0"/>
              <a:t>VCU</a:t>
            </a:r>
          </a:p>
          <a:p>
            <a:pPr lvl="2"/>
            <a:r>
              <a:rPr lang="en-IN" dirty="0"/>
              <a:t>Vehicle Control (</a:t>
            </a:r>
            <a:r>
              <a:rPr lang="en-IN" dirty="0" err="1"/>
              <a:t>Tq</a:t>
            </a:r>
            <a:r>
              <a:rPr lang="en-IN" dirty="0"/>
              <a:t> demand to MCU)</a:t>
            </a:r>
          </a:p>
          <a:p>
            <a:pPr lvl="2"/>
            <a:r>
              <a:rPr lang="en-IN" dirty="0"/>
              <a:t>ODO tracking</a:t>
            </a:r>
          </a:p>
          <a:p>
            <a:pPr lvl="2"/>
            <a:r>
              <a:rPr lang="en-IN" dirty="0"/>
              <a:t>Supervisory and Faults</a:t>
            </a:r>
          </a:p>
          <a:p>
            <a:pPr lvl="2"/>
            <a:r>
              <a:rPr lang="en-IN" dirty="0"/>
              <a:t>UART/CAN communication with IoT</a:t>
            </a:r>
          </a:p>
          <a:p>
            <a:pPr lvl="2"/>
            <a:r>
              <a:rPr lang="en-IN" dirty="0"/>
              <a:t>Auto Gear control</a:t>
            </a:r>
          </a:p>
          <a:p>
            <a:pPr lvl="2"/>
            <a:r>
              <a:rPr lang="en-IN" dirty="0"/>
              <a:t>RTC</a:t>
            </a:r>
          </a:p>
          <a:p>
            <a:pPr lvl="2"/>
            <a:r>
              <a:rPr lang="en-IN" dirty="0"/>
              <a:t>Throttle override*</a:t>
            </a:r>
          </a:p>
          <a:p>
            <a:pPr lvl="1"/>
            <a:r>
              <a:rPr lang="en-IN" dirty="0"/>
              <a:t>Telematics</a:t>
            </a:r>
          </a:p>
          <a:p>
            <a:pPr lvl="2"/>
            <a:r>
              <a:rPr lang="en-IN" dirty="0"/>
              <a:t>Data Tx to server</a:t>
            </a:r>
          </a:p>
          <a:p>
            <a:pPr lvl="2"/>
            <a:r>
              <a:rPr lang="en-IN" dirty="0"/>
              <a:t>Data Rx from server</a:t>
            </a:r>
          </a:p>
          <a:p>
            <a:pPr lvl="1"/>
            <a:r>
              <a:rPr lang="en-IN" dirty="0"/>
              <a:t>Device Driver Interface</a:t>
            </a:r>
          </a:p>
          <a:p>
            <a:pPr lvl="2"/>
            <a:r>
              <a:rPr lang="en-IN" dirty="0">
                <a:solidFill>
                  <a:schemeClr val="accent6">
                    <a:lumMod val="75000"/>
                  </a:schemeClr>
                </a:solidFill>
              </a:rPr>
              <a:t>CAN - Done</a:t>
            </a:r>
          </a:p>
          <a:p>
            <a:pPr lvl="2"/>
            <a:r>
              <a:rPr lang="en-IN" dirty="0">
                <a:solidFill>
                  <a:schemeClr val="accent6">
                    <a:lumMod val="75000"/>
                  </a:schemeClr>
                </a:solidFill>
              </a:rPr>
              <a:t>UART - Done</a:t>
            </a:r>
          </a:p>
          <a:p>
            <a:pPr lvl="2"/>
            <a:r>
              <a:rPr lang="en-IN" dirty="0">
                <a:solidFill>
                  <a:schemeClr val="accent6">
                    <a:lumMod val="75000"/>
                  </a:schemeClr>
                </a:solidFill>
              </a:rPr>
              <a:t>SPI (S-Flash) - Done</a:t>
            </a:r>
          </a:p>
          <a:p>
            <a:pPr lvl="2"/>
            <a:r>
              <a:rPr lang="en-IN" dirty="0">
                <a:solidFill>
                  <a:schemeClr val="accent6">
                    <a:lumMod val="75000"/>
                  </a:schemeClr>
                </a:solidFill>
              </a:rPr>
              <a:t>ADC - Done</a:t>
            </a:r>
          </a:p>
          <a:p>
            <a:pPr lvl="2"/>
            <a:r>
              <a:rPr lang="en-IN" dirty="0">
                <a:solidFill>
                  <a:schemeClr val="accent6">
                    <a:lumMod val="75000"/>
                  </a:schemeClr>
                </a:solidFill>
              </a:rPr>
              <a:t>DIO – Done</a:t>
            </a:r>
          </a:p>
          <a:p>
            <a:pPr lvl="2"/>
            <a:r>
              <a:rPr lang="en-IN" dirty="0"/>
              <a:t>Freq In</a:t>
            </a:r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23807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4F32923-998F-69AC-EF5C-13652AD271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8143"/>
            <a:ext cx="5769339" cy="5613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/>
              <a:t>Battery Management State Machine</a:t>
            </a:r>
          </a:p>
          <a:p>
            <a:pPr lvl="1"/>
            <a:endParaRPr lang="en-IN" dirty="0"/>
          </a:p>
          <a:p>
            <a:pPr lvl="1"/>
            <a:endParaRPr lang="en-IN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E500521-FB1D-3C46-E247-F2564EE83A95}"/>
              </a:ext>
            </a:extLst>
          </p:cNvPr>
          <p:cNvSpPr/>
          <p:nvPr/>
        </p:nvSpPr>
        <p:spPr>
          <a:xfrm>
            <a:off x="5714165" y="395974"/>
            <a:ext cx="2203554" cy="764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INIT/POST</a:t>
            </a:r>
            <a:endParaRPr lang="en-IN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E4B5E8A-D1B7-910D-8C5F-2E45A8CEF092}"/>
              </a:ext>
            </a:extLst>
          </p:cNvPr>
          <p:cNvSpPr/>
          <p:nvPr/>
        </p:nvSpPr>
        <p:spPr>
          <a:xfrm>
            <a:off x="2945567" y="1309786"/>
            <a:ext cx="2203554" cy="764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CHARGING</a:t>
            </a:r>
            <a:endParaRPr lang="en-IN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7EF4493-D0FF-3ACB-9076-8A17206CAE53}"/>
              </a:ext>
            </a:extLst>
          </p:cNvPr>
          <p:cNvSpPr/>
          <p:nvPr/>
        </p:nvSpPr>
        <p:spPr>
          <a:xfrm>
            <a:off x="8656820" y="1445321"/>
            <a:ext cx="2203554" cy="764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DRIVE</a:t>
            </a:r>
            <a:endParaRPr lang="en-IN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F7EA2BD-4885-DD80-811B-55F6C696FF90}"/>
              </a:ext>
            </a:extLst>
          </p:cNvPr>
          <p:cNvSpPr/>
          <p:nvPr/>
        </p:nvSpPr>
        <p:spPr>
          <a:xfrm>
            <a:off x="2622862" y="4504824"/>
            <a:ext cx="2203554" cy="764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FAULT RESET</a:t>
            </a:r>
            <a:endParaRPr lang="en-IN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086CE41-C0AC-BA5D-8B71-AD3375D0AD12}"/>
              </a:ext>
            </a:extLst>
          </p:cNvPr>
          <p:cNvSpPr/>
          <p:nvPr/>
        </p:nvSpPr>
        <p:spPr>
          <a:xfrm>
            <a:off x="2579556" y="5909892"/>
            <a:ext cx="2203554" cy="764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FAULT LATCH</a:t>
            </a:r>
            <a:endParaRPr lang="en-IN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A0180DB-DA4A-77CD-554E-512F24C7436A}"/>
              </a:ext>
            </a:extLst>
          </p:cNvPr>
          <p:cNvSpPr/>
          <p:nvPr/>
        </p:nvSpPr>
        <p:spPr>
          <a:xfrm>
            <a:off x="9172106" y="3101732"/>
            <a:ext cx="2203554" cy="764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IMMOBILIZE</a:t>
            </a:r>
            <a:endParaRPr lang="en-IN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97D1321-E11A-AD4F-02E5-5D25E665C7F0}"/>
              </a:ext>
            </a:extLst>
          </p:cNvPr>
          <p:cNvSpPr/>
          <p:nvPr/>
        </p:nvSpPr>
        <p:spPr>
          <a:xfrm>
            <a:off x="5507114" y="5498742"/>
            <a:ext cx="2203554" cy="764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DEEP DISCHARGE</a:t>
            </a:r>
            <a:endParaRPr lang="en-IN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40859BB3-4385-D6D0-1E70-E69ECF2C6729}"/>
              </a:ext>
            </a:extLst>
          </p:cNvPr>
          <p:cNvCxnSpPr>
            <a:cxnSpLocks/>
            <a:stCxn id="5" idx="4"/>
            <a:endCxn id="53" idx="0"/>
          </p:cNvCxnSpPr>
          <p:nvPr/>
        </p:nvCxnSpPr>
        <p:spPr>
          <a:xfrm rot="5400000">
            <a:off x="5963720" y="1980425"/>
            <a:ext cx="1672175" cy="3227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F202FBF5-079D-731B-5654-2105303FEF50}"/>
              </a:ext>
            </a:extLst>
          </p:cNvPr>
          <p:cNvSpPr/>
          <p:nvPr/>
        </p:nvSpPr>
        <p:spPr>
          <a:xfrm>
            <a:off x="1843790" y="2913494"/>
            <a:ext cx="2203554" cy="764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FAULT</a:t>
            </a:r>
            <a:endParaRPr lang="en-IN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1791C7A-AD42-EB0C-83D6-EC40496D33DE}"/>
              </a:ext>
            </a:extLst>
          </p:cNvPr>
          <p:cNvCxnSpPr>
            <a:cxnSpLocks/>
            <a:stCxn id="6" idx="2"/>
            <a:endCxn id="16" idx="1"/>
          </p:cNvCxnSpPr>
          <p:nvPr/>
        </p:nvCxnSpPr>
        <p:spPr>
          <a:xfrm rot="10800000" flipV="1">
            <a:off x="2166493" y="1692036"/>
            <a:ext cx="779074" cy="1333416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F508AB55-A8D3-60FE-2ACF-6A549FE11CF8}"/>
              </a:ext>
            </a:extLst>
          </p:cNvPr>
          <p:cNvCxnSpPr>
            <a:cxnSpLocks/>
            <a:stCxn id="16" idx="4"/>
            <a:endCxn id="8" idx="0"/>
          </p:cNvCxnSpPr>
          <p:nvPr/>
        </p:nvCxnSpPr>
        <p:spPr>
          <a:xfrm rot="16200000" flipH="1">
            <a:off x="2921688" y="3701872"/>
            <a:ext cx="826831" cy="779072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>
            <a:extLst>
              <a:ext uri="{FF2B5EF4-FFF2-40B4-BE49-F238E27FC236}">
                <a16:creationId xmlns:a16="http://schemas.microsoft.com/office/drawing/2014/main" id="{51B99D1B-13B2-3A32-9C16-8B3379F927F4}"/>
              </a:ext>
            </a:extLst>
          </p:cNvPr>
          <p:cNvSpPr/>
          <p:nvPr/>
        </p:nvSpPr>
        <p:spPr>
          <a:xfrm>
            <a:off x="5681895" y="2832648"/>
            <a:ext cx="2203554" cy="764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IDLE</a:t>
            </a:r>
            <a:endParaRPr lang="en-IN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E46C7C4D-70B9-6AA2-E0C0-FD505A1A6220}"/>
              </a:ext>
            </a:extLst>
          </p:cNvPr>
          <p:cNvCxnSpPr>
            <a:cxnSpLocks/>
            <a:stCxn id="16" idx="3"/>
            <a:endCxn id="9" idx="1"/>
          </p:cNvCxnSpPr>
          <p:nvPr/>
        </p:nvCxnSpPr>
        <p:spPr>
          <a:xfrm rot="16200000" flipH="1">
            <a:off x="1306469" y="4426059"/>
            <a:ext cx="2455815" cy="735766"/>
          </a:xfrm>
          <a:prstGeom prst="curvedConnector3">
            <a:avLst>
              <a:gd name="adj1" fmla="val 744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25">
            <a:extLst>
              <a:ext uri="{FF2B5EF4-FFF2-40B4-BE49-F238E27FC236}">
                <a16:creationId xmlns:a16="http://schemas.microsoft.com/office/drawing/2014/main" id="{FFBF11F8-7BCE-D052-8F2B-3743F27D3C41}"/>
              </a:ext>
            </a:extLst>
          </p:cNvPr>
          <p:cNvCxnSpPr>
            <a:cxnSpLocks/>
            <a:stCxn id="53" idx="4"/>
            <a:endCxn id="11" idx="0"/>
          </p:cNvCxnSpPr>
          <p:nvPr/>
        </p:nvCxnSpPr>
        <p:spPr>
          <a:xfrm rot="5400000">
            <a:off x="5745485" y="4460554"/>
            <a:ext cx="1901595" cy="17478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25">
            <a:extLst>
              <a:ext uri="{FF2B5EF4-FFF2-40B4-BE49-F238E27FC236}">
                <a16:creationId xmlns:a16="http://schemas.microsoft.com/office/drawing/2014/main" id="{D9DD6DDE-D92E-C3FE-AE77-294A753C5347}"/>
              </a:ext>
            </a:extLst>
          </p:cNvPr>
          <p:cNvCxnSpPr>
            <a:cxnSpLocks/>
            <a:stCxn id="11" idx="1"/>
            <a:endCxn id="6" idx="4"/>
          </p:cNvCxnSpPr>
          <p:nvPr/>
        </p:nvCxnSpPr>
        <p:spPr>
          <a:xfrm rot="16200000" flipV="1">
            <a:off x="3170374" y="2951256"/>
            <a:ext cx="3536415" cy="178247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25">
            <a:extLst>
              <a:ext uri="{FF2B5EF4-FFF2-40B4-BE49-F238E27FC236}">
                <a16:creationId xmlns:a16="http://schemas.microsoft.com/office/drawing/2014/main" id="{BDBA75FD-5275-F91C-2E44-BAF72C01172C}"/>
              </a:ext>
            </a:extLst>
          </p:cNvPr>
          <p:cNvCxnSpPr>
            <a:cxnSpLocks/>
            <a:stCxn id="53" idx="2"/>
            <a:endCxn id="6" idx="5"/>
          </p:cNvCxnSpPr>
          <p:nvPr/>
        </p:nvCxnSpPr>
        <p:spPr>
          <a:xfrm rot="10800000">
            <a:off x="4826419" y="1962328"/>
            <a:ext cx="855477" cy="1252571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: Elbow 25">
            <a:extLst>
              <a:ext uri="{FF2B5EF4-FFF2-40B4-BE49-F238E27FC236}">
                <a16:creationId xmlns:a16="http://schemas.microsoft.com/office/drawing/2014/main" id="{A66600AB-2582-4F60-A7E0-E56F256AEC5A}"/>
              </a:ext>
            </a:extLst>
          </p:cNvPr>
          <p:cNvCxnSpPr>
            <a:cxnSpLocks/>
            <a:stCxn id="6" idx="6"/>
            <a:endCxn id="53" idx="1"/>
          </p:cNvCxnSpPr>
          <p:nvPr/>
        </p:nvCxnSpPr>
        <p:spPr>
          <a:xfrm>
            <a:off x="5149121" y="1692036"/>
            <a:ext cx="855477" cy="1252570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: Elbow 25">
            <a:extLst>
              <a:ext uri="{FF2B5EF4-FFF2-40B4-BE49-F238E27FC236}">
                <a16:creationId xmlns:a16="http://schemas.microsoft.com/office/drawing/2014/main" id="{A7A4FF4F-A515-CD8D-C155-0287F02FCB21}"/>
              </a:ext>
            </a:extLst>
          </p:cNvPr>
          <p:cNvCxnSpPr>
            <a:cxnSpLocks/>
            <a:stCxn id="53" idx="6"/>
            <a:endCxn id="7" idx="4"/>
          </p:cNvCxnSpPr>
          <p:nvPr/>
        </p:nvCxnSpPr>
        <p:spPr>
          <a:xfrm flipV="1">
            <a:off x="7885449" y="2209820"/>
            <a:ext cx="1873148" cy="1005078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: Elbow 25">
            <a:extLst>
              <a:ext uri="{FF2B5EF4-FFF2-40B4-BE49-F238E27FC236}">
                <a16:creationId xmlns:a16="http://schemas.microsoft.com/office/drawing/2014/main" id="{0756E6C1-AEDE-DEE0-E2CE-0F9D15161D71}"/>
              </a:ext>
            </a:extLst>
          </p:cNvPr>
          <p:cNvCxnSpPr>
            <a:cxnSpLocks/>
            <a:stCxn id="7" idx="3"/>
            <a:endCxn id="53" idx="7"/>
          </p:cNvCxnSpPr>
          <p:nvPr/>
        </p:nvCxnSpPr>
        <p:spPr>
          <a:xfrm rot="5400000">
            <a:off x="7847763" y="1812846"/>
            <a:ext cx="846744" cy="141677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: Elbow 25">
            <a:extLst>
              <a:ext uri="{FF2B5EF4-FFF2-40B4-BE49-F238E27FC236}">
                <a16:creationId xmlns:a16="http://schemas.microsoft.com/office/drawing/2014/main" id="{71728572-DC5A-70F7-1300-B39C045A16C5}"/>
              </a:ext>
            </a:extLst>
          </p:cNvPr>
          <p:cNvCxnSpPr>
            <a:cxnSpLocks/>
            <a:stCxn id="7" idx="2"/>
            <a:endCxn id="16" idx="7"/>
          </p:cNvCxnSpPr>
          <p:nvPr/>
        </p:nvCxnSpPr>
        <p:spPr>
          <a:xfrm rot="10800000" flipV="1">
            <a:off x="3724642" y="1827570"/>
            <a:ext cx="4932179" cy="1197881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: Elbow 25">
            <a:extLst>
              <a:ext uri="{FF2B5EF4-FFF2-40B4-BE49-F238E27FC236}">
                <a16:creationId xmlns:a16="http://schemas.microsoft.com/office/drawing/2014/main" id="{FDA1AB91-C6AF-8FC6-5815-CB8C798D721F}"/>
              </a:ext>
            </a:extLst>
          </p:cNvPr>
          <p:cNvCxnSpPr>
            <a:cxnSpLocks/>
            <a:stCxn id="8" idx="6"/>
            <a:endCxn id="53" idx="3"/>
          </p:cNvCxnSpPr>
          <p:nvPr/>
        </p:nvCxnSpPr>
        <p:spPr>
          <a:xfrm flipV="1">
            <a:off x="4826416" y="3485189"/>
            <a:ext cx="1178182" cy="140188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25">
            <a:extLst>
              <a:ext uri="{FF2B5EF4-FFF2-40B4-BE49-F238E27FC236}">
                <a16:creationId xmlns:a16="http://schemas.microsoft.com/office/drawing/2014/main" id="{2E3F89A3-C638-CBF5-6E15-6E5317894399}"/>
              </a:ext>
            </a:extLst>
          </p:cNvPr>
          <p:cNvCxnSpPr>
            <a:cxnSpLocks/>
            <a:stCxn id="9" idx="2"/>
            <a:endCxn id="5" idx="2"/>
          </p:cNvCxnSpPr>
          <p:nvPr/>
        </p:nvCxnSpPr>
        <p:spPr>
          <a:xfrm rot="10800000" flipH="1">
            <a:off x="2579555" y="778224"/>
            <a:ext cx="3134609" cy="5513918"/>
          </a:xfrm>
          <a:prstGeom prst="curvedConnector3">
            <a:avLst>
              <a:gd name="adj1" fmla="val -4842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25">
            <a:extLst>
              <a:ext uri="{FF2B5EF4-FFF2-40B4-BE49-F238E27FC236}">
                <a16:creationId xmlns:a16="http://schemas.microsoft.com/office/drawing/2014/main" id="{0609706A-AE51-E758-7D0A-9E40DF11239B}"/>
              </a:ext>
            </a:extLst>
          </p:cNvPr>
          <p:cNvCxnSpPr>
            <a:cxnSpLocks/>
            <a:stCxn id="53" idx="4"/>
            <a:endCxn id="10" idx="4"/>
          </p:cNvCxnSpPr>
          <p:nvPr/>
        </p:nvCxnSpPr>
        <p:spPr>
          <a:xfrm rot="16200000" flipH="1">
            <a:off x="8394235" y="1986583"/>
            <a:ext cx="269084" cy="3490211"/>
          </a:xfrm>
          <a:prstGeom prst="curvedConnector3">
            <a:avLst>
              <a:gd name="adj1" fmla="val 28523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25">
            <a:extLst>
              <a:ext uri="{FF2B5EF4-FFF2-40B4-BE49-F238E27FC236}">
                <a16:creationId xmlns:a16="http://schemas.microsoft.com/office/drawing/2014/main" id="{3C9D5F4E-D429-1FE0-74B0-772CEFE33D5F}"/>
              </a:ext>
            </a:extLst>
          </p:cNvPr>
          <p:cNvCxnSpPr>
            <a:cxnSpLocks/>
            <a:stCxn id="10" idx="3"/>
            <a:endCxn id="53" idx="5"/>
          </p:cNvCxnSpPr>
          <p:nvPr/>
        </p:nvCxnSpPr>
        <p:spPr>
          <a:xfrm rot="5400000" flipH="1">
            <a:off x="8394236" y="2653700"/>
            <a:ext cx="269084" cy="1932063"/>
          </a:xfrm>
          <a:prstGeom prst="curvedConnector3">
            <a:avLst>
              <a:gd name="adj1" fmla="val -12656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4">
            <a:extLst>
              <a:ext uri="{FF2B5EF4-FFF2-40B4-BE49-F238E27FC236}">
                <a16:creationId xmlns:a16="http://schemas.microsoft.com/office/drawing/2014/main" id="{F160CAD0-77BD-9ED9-17B3-697F6E4CB464}"/>
              </a:ext>
            </a:extLst>
          </p:cNvPr>
          <p:cNvCxnSpPr>
            <a:cxnSpLocks/>
            <a:stCxn id="5" idx="3"/>
            <a:endCxn id="16" idx="6"/>
          </p:cNvCxnSpPr>
          <p:nvPr/>
        </p:nvCxnSpPr>
        <p:spPr>
          <a:xfrm rot="5400000">
            <a:off x="3918492" y="1177367"/>
            <a:ext cx="2247229" cy="1989524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25">
            <a:extLst>
              <a:ext uri="{FF2B5EF4-FFF2-40B4-BE49-F238E27FC236}">
                <a16:creationId xmlns:a16="http://schemas.microsoft.com/office/drawing/2014/main" id="{34E1911D-E264-BAE7-1FDB-750E4DC70DD8}"/>
              </a:ext>
            </a:extLst>
          </p:cNvPr>
          <p:cNvCxnSpPr>
            <a:cxnSpLocks/>
            <a:stCxn id="53" idx="2"/>
            <a:endCxn id="16" idx="5"/>
          </p:cNvCxnSpPr>
          <p:nvPr/>
        </p:nvCxnSpPr>
        <p:spPr>
          <a:xfrm rot="10800000" flipV="1">
            <a:off x="3724641" y="3214897"/>
            <a:ext cx="1957254" cy="351137"/>
          </a:xfrm>
          <a:prstGeom prst="curvedConnector4">
            <a:avLst>
              <a:gd name="adj1" fmla="val 18014"/>
              <a:gd name="adj2" fmla="val 19698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BBE71971-E53D-E128-208C-B0338251E2A0}"/>
              </a:ext>
            </a:extLst>
          </p:cNvPr>
          <p:cNvSpPr/>
          <p:nvPr/>
        </p:nvSpPr>
        <p:spPr>
          <a:xfrm>
            <a:off x="7803107" y="4781466"/>
            <a:ext cx="2203554" cy="764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SLEEP</a:t>
            </a:r>
            <a:endParaRPr lang="en-IN" dirty="0"/>
          </a:p>
        </p:txBody>
      </p:sp>
      <p:cxnSp>
        <p:nvCxnSpPr>
          <p:cNvPr id="172" name="Connector: Elbow 25">
            <a:extLst>
              <a:ext uri="{FF2B5EF4-FFF2-40B4-BE49-F238E27FC236}">
                <a16:creationId xmlns:a16="http://schemas.microsoft.com/office/drawing/2014/main" id="{5BDF1AAB-1ED6-93C9-0CA8-C39262808C90}"/>
              </a:ext>
            </a:extLst>
          </p:cNvPr>
          <p:cNvCxnSpPr>
            <a:cxnSpLocks/>
            <a:stCxn id="53" idx="4"/>
            <a:endCxn id="167" idx="2"/>
          </p:cNvCxnSpPr>
          <p:nvPr/>
        </p:nvCxnSpPr>
        <p:spPr>
          <a:xfrm rot="16200000" flipH="1">
            <a:off x="6510105" y="3870713"/>
            <a:ext cx="1566569" cy="101943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: Elbow 25">
            <a:extLst>
              <a:ext uri="{FF2B5EF4-FFF2-40B4-BE49-F238E27FC236}">
                <a16:creationId xmlns:a16="http://schemas.microsoft.com/office/drawing/2014/main" id="{EC049132-A5EA-4953-537E-913861B60C07}"/>
              </a:ext>
            </a:extLst>
          </p:cNvPr>
          <p:cNvCxnSpPr>
            <a:cxnSpLocks/>
            <a:stCxn id="167" idx="1"/>
            <a:endCxn id="53" idx="5"/>
          </p:cNvCxnSpPr>
          <p:nvPr/>
        </p:nvCxnSpPr>
        <p:spPr>
          <a:xfrm rot="16200000" flipV="1">
            <a:off x="7140161" y="3907775"/>
            <a:ext cx="1408235" cy="56306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5011D8CF-2A49-119B-603F-557E69A63708}"/>
              </a:ext>
            </a:extLst>
          </p:cNvPr>
          <p:cNvSpPr txBox="1"/>
          <p:nvPr/>
        </p:nvSpPr>
        <p:spPr>
          <a:xfrm>
            <a:off x="5558229" y="1190408"/>
            <a:ext cx="49404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Fault</a:t>
            </a:r>
            <a:endParaRPr lang="en-IN" sz="1100" dirty="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9D8E7A54-B1E4-5BEF-5AFA-8C8A539DEE5F}"/>
              </a:ext>
            </a:extLst>
          </p:cNvPr>
          <p:cNvSpPr txBox="1"/>
          <p:nvPr/>
        </p:nvSpPr>
        <p:spPr>
          <a:xfrm>
            <a:off x="5169842" y="2704843"/>
            <a:ext cx="65434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Charge </a:t>
            </a:r>
          </a:p>
          <a:p>
            <a:r>
              <a:rPr lang="en-US" sz="1100" dirty="0"/>
              <a:t>Detect</a:t>
            </a:r>
            <a:endParaRPr lang="en-IN" sz="1100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FFB9A720-96A6-080F-6BC8-E998D12FF66C}"/>
              </a:ext>
            </a:extLst>
          </p:cNvPr>
          <p:cNvSpPr txBox="1"/>
          <p:nvPr/>
        </p:nvSpPr>
        <p:spPr>
          <a:xfrm>
            <a:off x="5275242" y="3441360"/>
            <a:ext cx="49404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Fault</a:t>
            </a:r>
            <a:endParaRPr lang="en-IN" sz="1100" dirty="0"/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78A783D9-C089-68A6-2BDA-AEB28A5EDEE2}"/>
              </a:ext>
            </a:extLst>
          </p:cNvPr>
          <p:cNvSpPr txBox="1"/>
          <p:nvPr/>
        </p:nvSpPr>
        <p:spPr>
          <a:xfrm>
            <a:off x="4855517" y="4887073"/>
            <a:ext cx="85311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Fault Clear</a:t>
            </a:r>
            <a:endParaRPr lang="en-IN" sz="1100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88A1E2FB-563D-EE0E-AF46-DB7EABE77D30}"/>
              </a:ext>
            </a:extLst>
          </p:cNvPr>
          <p:cNvSpPr txBox="1"/>
          <p:nvPr/>
        </p:nvSpPr>
        <p:spPr>
          <a:xfrm>
            <a:off x="1636726" y="3852283"/>
            <a:ext cx="113364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&gt; 3 times within</a:t>
            </a:r>
          </a:p>
          <a:p>
            <a:r>
              <a:rPr lang="en-US" sz="1100" dirty="0"/>
              <a:t>1 min</a:t>
            </a:r>
            <a:endParaRPr lang="en-IN" sz="1100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9EC1FB77-24AA-99B8-B656-8EE520C74E0D}"/>
              </a:ext>
            </a:extLst>
          </p:cNvPr>
          <p:cNvSpPr txBox="1"/>
          <p:nvPr/>
        </p:nvSpPr>
        <p:spPr>
          <a:xfrm>
            <a:off x="2945150" y="3931944"/>
            <a:ext cx="113364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&lt; 3 times within</a:t>
            </a:r>
          </a:p>
          <a:p>
            <a:r>
              <a:rPr lang="en-US" sz="1100" dirty="0"/>
              <a:t>1 min</a:t>
            </a:r>
            <a:endParaRPr lang="en-IN" sz="1100" dirty="0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5ED20F49-22E3-2AD8-C90C-E568149DDDEB}"/>
              </a:ext>
            </a:extLst>
          </p:cNvPr>
          <p:cNvSpPr txBox="1"/>
          <p:nvPr/>
        </p:nvSpPr>
        <p:spPr>
          <a:xfrm>
            <a:off x="6016227" y="4785751"/>
            <a:ext cx="102303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CellV</a:t>
            </a:r>
            <a:r>
              <a:rPr lang="en-US" sz="1100" dirty="0"/>
              <a:t> too Low</a:t>
            </a:r>
            <a:endParaRPr lang="en-IN" sz="1100" dirty="0"/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58E0434B-E772-FAAC-1843-F233EC186941}"/>
              </a:ext>
            </a:extLst>
          </p:cNvPr>
          <p:cNvSpPr txBox="1"/>
          <p:nvPr/>
        </p:nvSpPr>
        <p:spPr>
          <a:xfrm>
            <a:off x="8026707" y="2811873"/>
            <a:ext cx="66717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Ignition </a:t>
            </a:r>
          </a:p>
          <a:p>
            <a:r>
              <a:rPr lang="en-US" sz="1100" dirty="0"/>
              <a:t>detect</a:t>
            </a:r>
            <a:endParaRPr lang="en-IN" sz="1100" dirty="0"/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0BDF65E4-579B-1C9B-5FE8-8542AB66BBEC}"/>
              </a:ext>
            </a:extLst>
          </p:cNvPr>
          <p:cNvSpPr txBox="1"/>
          <p:nvPr/>
        </p:nvSpPr>
        <p:spPr>
          <a:xfrm>
            <a:off x="9683959" y="4186131"/>
            <a:ext cx="85953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Immobilize</a:t>
            </a:r>
          </a:p>
          <a:p>
            <a:r>
              <a:rPr lang="en-US" sz="1100" dirty="0"/>
              <a:t>signal</a:t>
            </a:r>
            <a:endParaRPr lang="en-IN" sz="1100" dirty="0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25F376C-4FE5-7A47-F1AC-43E882741262}"/>
              </a:ext>
            </a:extLst>
          </p:cNvPr>
          <p:cNvSpPr txBox="1"/>
          <p:nvPr/>
        </p:nvSpPr>
        <p:spPr>
          <a:xfrm>
            <a:off x="8199831" y="1507317"/>
            <a:ext cx="49404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Fault</a:t>
            </a:r>
            <a:endParaRPr lang="en-IN" sz="11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209FF64F-D456-D9BA-03FC-64F60D424731}"/>
              </a:ext>
            </a:extLst>
          </p:cNvPr>
          <p:cNvSpPr txBox="1"/>
          <p:nvPr/>
        </p:nvSpPr>
        <p:spPr>
          <a:xfrm>
            <a:off x="2458903" y="1851993"/>
            <a:ext cx="49404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Fault</a:t>
            </a:r>
            <a:endParaRPr lang="en-IN" sz="11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96F95A8C-BDF0-CFC9-286A-D923043709B4}"/>
              </a:ext>
            </a:extLst>
          </p:cNvPr>
          <p:cNvSpPr txBox="1"/>
          <p:nvPr/>
        </p:nvSpPr>
        <p:spPr>
          <a:xfrm>
            <a:off x="1513773" y="6263241"/>
            <a:ext cx="94128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Power Cycle</a:t>
            </a:r>
            <a:endParaRPr lang="en-IN" sz="11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8550CDD4-E0CA-1C3F-DE5F-0020C800057C}"/>
              </a:ext>
            </a:extLst>
          </p:cNvPr>
          <p:cNvSpPr txBox="1"/>
          <p:nvPr/>
        </p:nvSpPr>
        <p:spPr>
          <a:xfrm>
            <a:off x="7124567" y="4602226"/>
            <a:ext cx="65915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timeout</a:t>
            </a:r>
            <a:endParaRPr lang="en-IN" sz="1100" dirty="0"/>
          </a:p>
        </p:txBody>
      </p:sp>
    </p:spTree>
    <p:extLst>
      <p:ext uri="{BB962C8B-B14F-4D97-AF65-F5344CB8AC3E}">
        <p14:creationId xmlns:p14="http://schemas.microsoft.com/office/powerpoint/2010/main" val="19995958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5C17B31-1225-86C9-8993-47C45E86A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8143"/>
            <a:ext cx="5769339" cy="5613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/>
              <a:t>VCU State Machine</a:t>
            </a:r>
          </a:p>
          <a:p>
            <a:pPr lvl="1"/>
            <a:endParaRPr lang="en-IN" dirty="0"/>
          </a:p>
          <a:p>
            <a:pPr lvl="1"/>
            <a:endParaRPr lang="en-IN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9F6442B8-D165-99E7-7186-00148B4321AD}"/>
              </a:ext>
            </a:extLst>
          </p:cNvPr>
          <p:cNvSpPr/>
          <p:nvPr/>
        </p:nvSpPr>
        <p:spPr>
          <a:xfrm>
            <a:off x="5714165" y="395974"/>
            <a:ext cx="2203554" cy="764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INIT/POST</a:t>
            </a:r>
            <a:endParaRPr lang="en-IN" dirty="0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E077CDF5-2F0B-D5BD-19A2-F18AB4CBDE9C}"/>
              </a:ext>
            </a:extLst>
          </p:cNvPr>
          <p:cNvSpPr/>
          <p:nvPr/>
        </p:nvSpPr>
        <p:spPr>
          <a:xfrm>
            <a:off x="2945567" y="1309786"/>
            <a:ext cx="2203554" cy="764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DRIVE </a:t>
            </a:r>
            <a:endParaRPr lang="en-IN" dirty="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573D05B-9E76-A168-C20F-A30197DC0300}"/>
              </a:ext>
            </a:extLst>
          </p:cNvPr>
          <p:cNvSpPr/>
          <p:nvPr/>
        </p:nvSpPr>
        <p:spPr>
          <a:xfrm>
            <a:off x="2622862" y="4504824"/>
            <a:ext cx="2203554" cy="764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FAULT RESET</a:t>
            </a:r>
            <a:endParaRPr lang="en-IN" dirty="0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E906F58-BA58-CBE7-F493-58B2760FBB7B}"/>
              </a:ext>
            </a:extLst>
          </p:cNvPr>
          <p:cNvSpPr/>
          <p:nvPr/>
        </p:nvSpPr>
        <p:spPr>
          <a:xfrm>
            <a:off x="2579556" y="5909892"/>
            <a:ext cx="2203554" cy="764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FAULT LATCH</a:t>
            </a:r>
            <a:endParaRPr lang="en-IN" dirty="0"/>
          </a:p>
        </p:txBody>
      </p:sp>
      <p:cxnSp>
        <p:nvCxnSpPr>
          <p:cNvPr id="42" name="Connector: Elbow 14">
            <a:extLst>
              <a:ext uri="{FF2B5EF4-FFF2-40B4-BE49-F238E27FC236}">
                <a16:creationId xmlns:a16="http://schemas.microsoft.com/office/drawing/2014/main" id="{5F4CBF58-D18F-FF1A-2298-E26F4B922E6C}"/>
              </a:ext>
            </a:extLst>
          </p:cNvPr>
          <p:cNvCxnSpPr>
            <a:cxnSpLocks/>
            <a:stCxn id="35" idx="4"/>
            <a:endCxn id="46" idx="0"/>
          </p:cNvCxnSpPr>
          <p:nvPr/>
        </p:nvCxnSpPr>
        <p:spPr>
          <a:xfrm rot="5400000">
            <a:off x="5963720" y="1980425"/>
            <a:ext cx="1672175" cy="3227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A9C36A00-BA8B-A4A4-D5A8-5921512A125B}"/>
              </a:ext>
            </a:extLst>
          </p:cNvPr>
          <p:cNvSpPr/>
          <p:nvPr/>
        </p:nvSpPr>
        <p:spPr>
          <a:xfrm>
            <a:off x="1843790" y="2913494"/>
            <a:ext cx="2203554" cy="764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FAULT</a:t>
            </a:r>
            <a:endParaRPr lang="en-IN" dirty="0"/>
          </a:p>
        </p:txBody>
      </p:sp>
      <p:cxnSp>
        <p:nvCxnSpPr>
          <p:cNvPr id="44" name="Connector: Elbow 16">
            <a:extLst>
              <a:ext uri="{FF2B5EF4-FFF2-40B4-BE49-F238E27FC236}">
                <a16:creationId xmlns:a16="http://schemas.microsoft.com/office/drawing/2014/main" id="{7BCE92F0-D561-7016-A57E-4D8A2B06D6B9}"/>
              </a:ext>
            </a:extLst>
          </p:cNvPr>
          <p:cNvCxnSpPr>
            <a:cxnSpLocks/>
            <a:stCxn id="36" idx="3"/>
            <a:endCxn id="43" idx="0"/>
          </p:cNvCxnSpPr>
          <p:nvPr/>
        </p:nvCxnSpPr>
        <p:spPr>
          <a:xfrm rot="5400000">
            <a:off x="2631336" y="2276559"/>
            <a:ext cx="951167" cy="32270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30">
            <a:extLst>
              <a:ext uri="{FF2B5EF4-FFF2-40B4-BE49-F238E27FC236}">
                <a16:creationId xmlns:a16="http://schemas.microsoft.com/office/drawing/2014/main" id="{E225090D-507D-9094-BF46-DFC57342A37F}"/>
              </a:ext>
            </a:extLst>
          </p:cNvPr>
          <p:cNvCxnSpPr>
            <a:cxnSpLocks/>
            <a:stCxn id="43" idx="4"/>
            <a:endCxn id="38" idx="0"/>
          </p:cNvCxnSpPr>
          <p:nvPr/>
        </p:nvCxnSpPr>
        <p:spPr>
          <a:xfrm rot="16200000" flipH="1">
            <a:off x="2921688" y="3701872"/>
            <a:ext cx="826831" cy="779072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>
            <a:extLst>
              <a:ext uri="{FF2B5EF4-FFF2-40B4-BE49-F238E27FC236}">
                <a16:creationId xmlns:a16="http://schemas.microsoft.com/office/drawing/2014/main" id="{F67098BB-7F5B-D49D-DBA7-C9FA65A8DC39}"/>
              </a:ext>
            </a:extLst>
          </p:cNvPr>
          <p:cNvSpPr/>
          <p:nvPr/>
        </p:nvSpPr>
        <p:spPr>
          <a:xfrm>
            <a:off x="5681895" y="2832648"/>
            <a:ext cx="2203554" cy="764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IDLE</a:t>
            </a:r>
            <a:endParaRPr lang="en-IN" dirty="0"/>
          </a:p>
        </p:txBody>
      </p:sp>
      <p:cxnSp>
        <p:nvCxnSpPr>
          <p:cNvPr id="47" name="Connector: Elbow 53">
            <a:extLst>
              <a:ext uri="{FF2B5EF4-FFF2-40B4-BE49-F238E27FC236}">
                <a16:creationId xmlns:a16="http://schemas.microsoft.com/office/drawing/2014/main" id="{57F1290A-6F56-A063-CDD6-88C88C12B71A}"/>
              </a:ext>
            </a:extLst>
          </p:cNvPr>
          <p:cNvCxnSpPr>
            <a:cxnSpLocks/>
            <a:stCxn id="43" idx="3"/>
            <a:endCxn id="39" idx="1"/>
          </p:cNvCxnSpPr>
          <p:nvPr/>
        </p:nvCxnSpPr>
        <p:spPr>
          <a:xfrm rot="16200000" flipH="1">
            <a:off x="1306469" y="4426059"/>
            <a:ext cx="2455815" cy="735766"/>
          </a:xfrm>
          <a:prstGeom prst="curvedConnector3">
            <a:avLst>
              <a:gd name="adj1" fmla="val 7685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25">
            <a:extLst>
              <a:ext uri="{FF2B5EF4-FFF2-40B4-BE49-F238E27FC236}">
                <a16:creationId xmlns:a16="http://schemas.microsoft.com/office/drawing/2014/main" id="{04F3BD0D-775B-B5FD-611B-033797606F28}"/>
              </a:ext>
            </a:extLst>
          </p:cNvPr>
          <p:cNvCxnSpPr>
            <a:cxnSpLocks/>
            <a:stCxn id="38" idx="6"/>
            <a:endCxn id="46" idx="3"/>
          </p:cNvCxnSpPr>
          <p:nvPr/>
        </p:nvCxnSpPr>
        <p:spPr>
          <a:xfrm flipV="1">
            <a:off x="4826416" y="3485189"/>
            <a:ext cx="1178182" cy="140188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25">
            <a:extLst>
              <a:ext uri="{FF2B5EF4-FFF2-40B4-BE49-F238E27FC236}">
                <a16:creationId xmlns:a16="http://schemas.microsoft.com/office/drawing/2014/main" id="{B2103E47-F09A-3D04-6406-3E1A803AC86F}"/>
              </a:ext>
            </a:extLst>
          </p:cNvPr>
          <p:cNvCxnSpPr>
            <a:cxnSpLocks/>
            <a:stCxn id="39" idx="2"/>
            <a:endCxn id="35" idx="2"/>
          </p:cNvCxnSpPr>
          <p:nvPr/>
        </p:nvCxnSpPr>
        <p:spPr>
          <a:xfrm rot="10800000" flipH="1">
            <a:off x="2579555" y="778224"/>
            <a:ext cx="3134609" cy="5513918"/>
          </a:xfrm>
          <a:prstGeom prst="curvedConnector3">
            <a:avLst>
              <a:gd name="adj1" fmla="val -560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14">
            <a:extLst>
              <a:ext uri="{FF2B5EF4-FFF2-40B4-BE49-F238E27FC236}">
                <a16:creationId xmlns:a16="http://schemas.microsoft.com/office/drawing/2014/main" id="{8CA100F3-80B8-B8FF-CA40-91573CA41BDD}"/>
              </a:ext>
            </a:extLst>
          </p:cNvPr>
          <p:cNvCxnSpPr>
            <a:cxnSpLocks/>
            <a:stCxn id="35" idx="3"/>
            <a:endCxn id="43" idx="6"/>
          </p:cNvCxnSpPr>
          <p:nvPr/>
        </p:nvCxnSpPr>
        <p:spPr>
          <a:xfrm rot="5400000">
            <a:off x="3918492" y="1177367"/>
            <a:ext cx="2247229" cy="1989524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25">
            <a:extLst>
              <a:ext uri="{FF2B5EF4-FFF2-40B4-BE49-F238E27FC236}">
                <a16:creationId xmlns:a16="http://schemas.microsoft.com/office/drawing/2014/main" id="{74AD69F0-B5A0-1C9B-DE2C-BF61DB607138}"/>
              </a:ext>
            </a:extLst>
          </p:cNvPr>
          <p:cNvCxnSpPr>
            <a:cxnSpLocks/>
            <a:stCxn id="46" idx="2"/>
            <a:endCxn id="43" idx="5"/>
          </p:cNvCxnSpPr>
          <p:nvPr/>
        </p:nvCxnSpPr>
        <p:spPr>
          <a:xfrm rot="10800000" flipV="1">
            <a:off x="3724641" y="3214897"/>
            <a:ext cx="1957254" cy="351137"/>
          </a:xfrm>
          <a:prstGeom prst="curvedConnector4">
            <a:avLst>
              <a:gd name="adj1" fmla="val 18014"/>
              <a:gd name="adj2" fmla="val 19698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>
            <a:extLst>
              <a:ext uri="{FF2B5EF4-FFF2-40B4-BE49-F238E27FC236}">
                <a16:creationId xmlns:a16="http://schemas.microsoft.com/office/drawing/2014/main" id="{8D86C4C5-CFC8-4364-04F2-61802C6DBA35}"/>
              </a:ext>
            </a:extLst>
          </p:cNvPr>
          <p:cNvSpPr/>
          <p:nvPr/>
        </p:nvSpPr>
        <p:spPr>
          <a:xfrm>
            <a:off x="6127225" y="4933029"/>
            <a:ext cx="2203554" cy="764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SLEEP</a:t>
            </a:r>
            <a:endParaRPr lang="en-IN" dirty="0"/>
          </a:p>
        </p:txBody>
      </p:sp>
      <p:cxnSp>
        <p:nvCxnSpPr>
          <p:cNvPr id="62" name="Connector: Elbow 25">
            <a:extLst>
              <a:ext uri="{FF2B5EF4-FFF2-40B4-BE49-F238E27FC236}">
                <a16:creationId xmlns:a16="http://schemas.microsoft.com/office/drawing/2014/main" id="{3AF9E106-9172-F970-0CA9-612A96CED220}"/>
              </a:ext>
            </a:extLst>
          </p:cNvPr>
          <p:cNvCxnSpPr>
            <a:cxnSpLocks/>
            <a:stCxn id="46" idx="4"/>
            <a:endCxn id="61" idx="1"/>
          </p:cNvCxnSpPr>
          <p:nvPr/>
        </p:nvCxnSpPr>
        <p:spPr>
          <a:xfrm rot="5400000">
            <a:off x="5892880" y="4154195"/>
            <a:ext cx="1447840" cy="33374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25">
            <a:extLst>
              <a:ext uri="{FF2B5EF4-FFF2-40B4-BE49-F238E27FC236}">
                <a16:creationId xmlns:a16="http://schemas.microsoft.com/office/drawing/2014/main" id="{B7D84BBC-1581-FD87-EAA5-12CA97B065D7}"/>
              </a:ext>
            </a:extLst>
          </p:cNvPr>
          <p:cNvCxnSpPr>
            <a:cxnSpLocks/>
            <a:stCxn id="61" idx="0"/>
            <a:endCxn id="46" idx="5"/>
          </p:cNvCxnSpPr>
          <p:nvPr/>
        </p:nvCxnSpPr>
        <p:spPr>
          <a:xfrm rot="5400000" flipH="1" flipV="1">
            <a:off x="6671954" y="4042237"/>
            <a:ext cx="1447840" cy="33374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A693FC4B-8000-5C90-4475-CE920D9C7F82}"/>
              </a:ext>
            </a:extLst>
          </p:cNvPr>
          <p:cNvSpPr txBox="1"/>
          <p:nvPr/>
        </p:nvSpPr>
        <p:spPr>
          <a:xfrm>
            <a:off x="5558229" y="1190408"/>
            <a:ext cx="49404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Fault</a:t>
            </a:r>
            <a:endParaRPr lang="en-IN" sz="11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977B80B-4962-DE8A-133C-B9A105FCCFC9}"/>
              </a:ext>
            </a:extLst>
          </p:cNvPr>
          <p:cNvSpPr txBox="1"/>
          <p:nvPr/>
        </p:nvSpPr>
        <p:spPr>
          <a:xfrm>
            <a:off x="5275242" y="3441360"/>
            <a:ext cx="49404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Fault</a:t>
            </a:r>
            <a:endParaRPr lang="en-IN" sz="11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7C1E251-97B6-2E7C-0827-F75533E48BC8}"/>
              </a:ext>
            </a:extLst>
          </p:cNvPr>
          <p:cNvSpPr txBox="1"/>
          <p:nvPr/>
        </p:nvSpPr>
        <p:spPr>
          <a:xfrm>
            <a:off x="4855517" y="4887073"/>
            <a:ext cx="85311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Fault Clear</a:t>
            </a:r>
            <a:endParaRPr lang="en-IN" sz="11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E3818B5-F846-4959-282E-C53EF6D026B5}"/>
              </a:ext>
            </a:extLst>
          </p:cNvPr>
          <p:cNvSpPr txBox="1"/>
          <p:nvPr/>
        </p:nvSpPr>
        <p:spPr>
          <a:xfrm>
            <a:off x="1636726" y="3852283"/>
            <a:ext cx="113364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&gt; 3 times within</a:t>
            </a:r>
          </a:p>
          <a:p>
            <a:r>
              <a:rPr lang="en-US" sz="1100" dirty="0"/>
              <a:t>1 min</a:t>
            </a:r>
            <a:endParaRPr lang="en-IN" sz="110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21A30B9-7C7B-C7D2-2866-B2DC85110742}"/>
              </a:ext>
            </a:extLst>
          </p:cNvPr>
          <p:cNvSpPr txBox="1"/>
          <p:nvPr/>
        </p:nvSpPr>
        <p:spPr>
          <a:xfrm>
            <a:off x="2945150" y="3931944"/>
            <a:ext cx="113364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&lt; 3 times within</a:t>
            </a:r>
          </a:p>
          <a:p>
            <a:r>
              <a:rPr lang="en-US" sz="1100" dirty="0"/>
              <a:t>1 min</a:t>
            </a:r>
            <a:endParaRPr lang="en-IN" sz="11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291E611-E1D7-4F1B-55DC-5A3A1F33603F}"/>
              </a:ext>
            </a:extLst>
          </p:cNvPr>
          <p:cNvSpPr txBox="1"/>
          <p:nvPr/>
        </p:nvSpPr>
        <p:spPr>
          <a:xfrm>
            <a:off x="3194988" y="2260953"/>
            <a:ext cx="49404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Fault</a:t>
            </a:r>
            <a:endParaRPr lang="en-IN" sz="110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A3D4232-1490-B95A-AED1-FBD90FC2DF1B}"/>
              </a:ext>
            </a:extLst>
          </p:cNvPr>
          <p:cNvSpPr txBox="1"/>
          <p:nvPr/>
        </p:nvSpPr>
        <p:spPr>
          <a:xfrm>
            <a:off x="1513773" y="6263241"/>
            <a:ext cx="94128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Power Cycle</a:t>
            </a:r>
            <a:endParaRPr lang="en-IN" sz="11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0965B0F-0E40-141A-2FE2-40CD9DC6D147}"/>
              </a:ext>
            </a:extLst>
          </p:cNvPr>
          <p:cNvSpPr txBox="1"/>
          <p:nvPr/>
        </p:nvSpPr>
        <p:spPr>
          <a:xfrm>
            <a:off x="6447219" y="4532332"/>
            <a:ext cx="65915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timeout</a:t>
            </a:r>
            <a:endParaRPr lang="en-IN" sz="1100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DA744F03-2AEE-D209-80E7-CA5D36D11E00}"/>
              </a:ext>
            </a:extLst>
          </p:cNvPr>
          <p:cNvSpPr/>
          <p:nvPr/>
        </p:nvSpPr>
        <p:spPr>
          <a:xfrm>
            <a:off x="8923731" y="2725211"/>
            <a:ext cx="2203554" cy="764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PRECHARGE</a:t>
            </a:r>
            <a:endParaRPr lang="en-IN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1F7868DC-BACF-031A-A51D-4030E2B7C831}"/>
              </a:ext>
            </a:extLst>
          </p:cNvPr>
          <p:cNvSpPr/>
          <p:nvPr/>
        </p:nvSpPr>
        <p:spPr>
          <a:xfrm>
            <a:off x="8144656" y="1273018"/>
            <a:ext cx="2203554" cy="764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CONTACTOR</a:t>
            </a:r>
            <a:endParaRPr lang="en-IN" dirty="0"/>
          </a:p>
        </p:txBody>
      </p:sp>
      <p:cxnSp>
        <p:nvCxnSpPr>
          <p:cNvPr id="83" name="Connector: Elbow 14">
            <a:extLst>
              <a:ext uri="{FF2B5EF4-FFF2-40B4-BE49-F238E27FC236}">
                <a16:creationId xmlns:a16="http://schemas.microsoft.com/office/drawing/2014/main" id="{A706CF28-12EC-57CA-6E3A-8C99E4CE2FD2}"/>
              </a:ext>
            </a:extLst>
          </p:cNvPr>
          <p:cNvCxnSpPr>
            <a:cxnSpLocks/>
            <a:stCxn id="46" idx="6"/>
            <a:endCxn id="79" idx="2"/>
          </p:cNvCxnSpPr>
          <p:nvPr/>
        </p:nvCxnSpPr>
        <p:spPr>
          <a:xfrm flipV="1">
            <a:off x="7885449" y="3107461"/>
            <a:ext cx="1038282" cy="10743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14">
            <a:extLst>
              <a:ext uri="{FF2B5EF4-FFF2-40B4-BE49-F238E27FC236}">
                <a16:creationId xmlns:a16="http://schemas.microsoft.com/office/drawing/2014/main" id="{4B045278-D4D2-CEDF-724E-9D3788C981EB}"/>
              </a:ext>
            </a:extLst>
          </p:cNvPr>
          <p:cNvCxnSpPr>
            <a:cxnSpLocks/>
            <a:stCxn id="79" idx="0"/>
            <a:endCxn id="80" idx="4"/>
          </p:cNvCxnSpPr>
          <p:nvPr/>
        </p:nvCxnSpPr>
        <p:spPr>
          <a:xfrm rot="16200000" flipV="1">
            <a:off x="9292124" y="1991826"/>
            <a:ext cx="687694" cy="77907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: Elbow 25">
            <a:extLst>
              <a:ext uri="{FF2B5EF4-FFF2-40B4-BE49-F238E27FC236}">
                <a16:creationId xmlns:a16="http://schemas.microsoft.com/office/drawing/2014/main" id="{62AC8C3E-2B04-3FD7-94E7-2B214E1B8DB2}"/>
              </a:ext>
            </a:extLst>
          </p:cNvPr>
          <p:cNvCxnSpPr>
            <a:cxnSpLocks/>
            <a:stCxn id="80" idx="2"/>
            <a:endCxn id="36" idx="6"/>
          </p:cNvCxnSpPr>
          <p:nvPr/>
        </p:nvCxnSpPr>
        <p:spPr>
          <a:xfrm rot="10800000" flipV="1">
            <a:off x="5149122" y="1655268"/>
            <a:ext cx="2995535" cy="3676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: Elbow 25">
            <a:extLst>
              <a:ext uri="{FF2B5EF4-FFF2-40B4-BE49-F238E27FC236}">
                <a16:creationId xmlns:a16="http://schemas.microsoft.com/office/drawing/2014/main" id="{9E244C2C-9324-CCF4-6612-168D4BA6E39B}"/>
              </a:ext>
            </a:extLst>
          </p:cNvPr>
          <p:cNvCxnSpPr>
            <a:cxnSpLocks/>
            <a:stCxn id="36" idx="4"/>
            <a:endCxn id="46" idx="1"/>
          </p:cNvCxnSpPr>
          <p:nvPr/>
        </p:nvCxnSpPr>
        <p:spPr>
          <a:xfrm rot="16200000" flipH="1">
            <a:off x="4590811" y="1530818"/>
            <a:ext cx="870321" cy="195725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ED384228-80A3-1D61-0BC0-87EC39AC09AE}"/>
              </a:ext>
            </a:extLst>
          </p:cNvPr>
          <p:cNvSpPr txBox="1"/>
          <p:nvPr/>
        </p:nvSpPr>
        <p:spPr>
          <a:xfrm>
            <a:off x="7972944" y="3242594"/>
            <a:ext cx="6383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Ignition</a:t>
            </a:r>
            <a:endParaRPr lang="en-IN" sz="1100" dirty="0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37F85C5-FB91-566F-7EC6-A861F5C26B7E}"/>
              </a:ext>
            </a:extLst>
          </p:cNvPr>
          <p:cNvSpPr/>
          <p:nvPr/>
        </p:nvSpPr>
        <p:spPr>
          <a:xfrm>
            <a:off x="352475" y="656098"/>
            <a:ext cx="2203554" cy="764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Immobilize </a:t>
            </a:r>
            <a:endParaRPr lang="en-IN" dirty="0"/>
          </a:p>
        </p:txBody>
      </p:sp>
      <p:cxnSp>
        <p:nvCxnSpPr>
          <p:cNvPr id="134" name="Connector: Elbow 25">
            <a:extLst>
              <a:ext uri="{FF2B5EF4-FFF2-40B4-BE49-F238E27FC236}">
                <a16:creationId xmlns:a16="http://schemas.microsoft.com/office/drawing/2014/main" id="{3AF2AD51-F74B-97BA-446D-8F1F9F2C9DB8}"/>
              </a:ext>
            </a:extLst>
          </p:cNvPr>
          <p:cNvCxnSpPr>
            <a:cxnSpLocks/>
            <a:stCxn id="36" idx="0"/>
            <a:endCxn id="133" idx="7"/>
          </p:cNvCxnSpPr>
          <p:nvPr/>
        </p:nvCxnSpPr>
        <p:spPr>
          <a:xfrm rot="16200000" flipV="1">
            <a:off x="2869470" y="131912"/>
            <a:ext cx="541730" cy="1814018"/>
          </a:xfrm>
          <a:prstGeom prst="curvedConnector3">
            <a:avLst>
              <a:gd name="adj1" fmla="val 16286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25">
            <a:extLst>
              <a:ext uri="{FF2B5EF4-FFF2-40B4-BE49-F238E27FC236}">
                <a16:creationId xmlns:a16="http://schemas.microsoft.com/office/drawing/2014/main" id="{3A3EECFF-7961-314A-41F4-3D888EFDA97E}"/>
              </a:ext>
            </a:extLst>
          </p:cNvPr>
          <p:cNvCxnSpPr>
            <a:cxnSpLocks/>
            <a:stCxn id="133" idx="4"/>
            <a:endCxn id="46" idx="2"/>
          </p:cNvCxnSpPr>
          <p:nvPr/>
        </p:nvCxnSpPr>
        <p:spPr>
          <a:xfrm rot="16200000" flipH="1">
            <a:off x="2670923" y="203925"/>
            <a:ext cx="1794301" cy="4227643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142">
            <a:extLst>
              <a:ext uri="{FF2B5EF4-FFF2-40B4-BE49-F238E27FC236}">
                <a16:creationId xmlns:a16="http://schemas.microsoft.com/office/drawing/2014/main" id="{E597C6EB-C542-C210-546B-BBC93817A5B9}"/>
              </a:ext>
            </a:extLst>
          </p:cNvPr>
          <p:cNvSpPr txBox="1"/>
          <p:nvPr/>
        </p:nvSpPr>
        <p:spPr>
          <a:xfrm>
            <a:off x="2348338" y="487968"/>
            <a:ext cx="142699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Charger Connected/</a:t>
            </a:r>
          </a:p>
          <a:p>
            <a:r>
              <a:rPr lang="en-US" sz="1100" dirty="0"/>
              <a:t>Vehicle </a:t>
            </a:r>
            <a:r>
              <a:rPr lang="en-US" sz="1100" dirty="0" err="1"/>
              <a:t>Immob</a:t>
            </a:r>
            <a:endParaRPr lang="en-IN" sz="1100" dirty="0"/>
          </a:p>
        </p:txBody>
      </p:sp>
    </p:spTree>
    <p:extLst>
      <p:ext uri="{BB962C8B-B14F-4D97-AF65-F5344CB8AC3E}">
        <p14:creationId xmlns:p14="http://schemas.microsoft.com/office/powerpoint/2010/main" val="23590984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BA2504B-174B-A2CD-63A6-B52DDDF75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8143"/>
            <a:ext cx="5769339" cy="5613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/>
              <a:t>Drive Modes</a:t>
            </a:r>
          </a:p>
          <a:p>
            <a:pPr lvl="1"/>
            <a:endParaRPr lang="en-IN" dirty="0"/>
          </a:p>
          <a:p>
            <a:pPr lvl="1"/>
            <a:endParaRPr lang="en-IN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E905280-8563-CC95-7AF4-E6FD2268F938}"/>
              </a:ext>
            </a:extLst>
          </p:cNvPr>
          <p:cNvSpPr/>
          <p:nvPr/>
        </p:nvSpPr>
        <p:spPr>
          <a:xfrm>
            <a:off x="557134" y="1674709"/>
            <a:ext cx="2203554" cy="764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Neutral</a:t>
            </a:r>
            <a:endParaRPr lang="en-IN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428B191-E9AA-602A-3C8A-8BC7C2EB052D}"/>
              </a:ext>
            </a:extLst>
          </p:cNvPr>
          <p:cNvSpPr/>
          <p:nvPr/>
        </p:nvSpPr>
        <p:spPr>
          <a:xfrm>
            <a:off x="557134" y="749863"/>
            <a:ext cx="2203554" cy="764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Reverse</a:t>
            </a:r>
            <a:endParaRPr lang="en-IN" dirty="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9D37CB8E-538C-C28B-772D-11CFD434B0DD}"/>
              </a:ext>
            </a:extLst>
          </p:cNvPr>
          <p:cNvSpPr/>
          <p:nvPr/>
        </p:nvSpPr>
        <p:spPr>
          <a:xfrm>
            <a:off x="557134" y="2599555"/>
            <a:ext cx="2203554" cy="764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ECO</a:t>
            </a:r>
            <a:endParaRPr lang="en-IN" dirty="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351B3EE-47E1-72AB-E293-AEB022A2A909}"/>
              </a:ext>
            </a:extLst>
          </p:cNvPr>
          <p:cNvSpPr/>
          <p:nvPr/>
        </p:nvSpPr>
        <p:spPr>
          <a:xfrm>
            <a:off x="557134" y="3524401"/>
            <a:ext cx="2203554" cy="764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BOOST</a:t>
            </a:r>
            <a:endParaRPr lang="en-IN" dirty="0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625FF55-940A-2CA4-242A-6CF3C4369CDE}"/>
              </a:ext>
            </a:extLst>
          </p:cNvPr>
          <p:cNvSpPr/>
          <p:nvPr/>
        </p:nvSpPr>
        <p:spPr>
          <a:xfrm>
            <a:off x="2884669" y="1674708"/>
            <a:ext cx="2203554" cy="764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Parking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99861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66E6A32D-F9D5-1A71-04D7-E497AF81FF4E}"/>
              </a:ext>
            </a:extLst>
          </p:cNvPr>
          <p:cNvSpPr/>
          <p:nvPr/>
        </p:nvSpPr>
        <p:spPr>
          <a:xfrm>
            <a:off x="314793" y="2964305"/>
            <a:ext cx="5336499" cy="4646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HAL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C4AEB8B-F92F-0C37-76B8-B882B9BCA0F3}"/>
              </a:ext>
            </a:extLst>
          </p:cNvPr>
          <p:cNvSpPr/>
          <p:nvPr/>
        </p:nvSpPr>
        <p:spPr>
          <a:xfrm>
            <a:off x="314792" y="2367197"/>
            <a:ext cx="5336499" cy="4646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Driver Abstraction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30217A9-7EB5-097E-D73D-D4A3E2D08B15}"/>
              </a:ext>
            </a:extLst>
          </p:cNvPr>
          <p:cNvSpPr/>
          <p:nvPr/>
        </p:nvSpPr>
        <p:spPr>
          <a:xfrm>
            <a:off x="314792" y="826969"/>
            <a:ext cx="2638270" cy="13895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BMS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8068FA3-04F0-511D-9DF1-C95A5D55DD78}"/>
              </a:ext>
            </a:extLst>
          </p:cNvPr>
          <p:cNvSpPr/>
          <p:nvPr/>
        </p:nvSpPr>
        <p:spPr>
          <a:xfrm>
            <a:off x="3117954" y="826969"/>
            <a:ext cx="2533337" cy="14078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VCU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E6A19FC-1F96-6EF7-BCB0-4F4C43B2F9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8143"/>
            <a:ext cx="5769339" cy="5613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/>
              <a:t>SW Architecture</a:t>
            </a:r>
          </a:p>
          <a:p>
            <a:pPr lvl="1"/>
            <a:endParaRPr lang="en-IN" dirty="0"/>
          </a:p>
          <a:p>
            <a:pPr lvl="1"/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206F33E-6208-4521-BECD-A17E1D187F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636089"/>
              </p:ext>
            </p:extLst>
          </p:nvPr>
        </p:nvGraphicFramePr>
        <p:xfrm>
          <a:off x="6220918" y="833120"/>
          <a:ext cx="5336498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2531">
                  <a:extLst>
                    <a:ext uri="{9D8B030D-6E8A-4147-A177-3AD203B41FA5}">
                      <a16:colId xmlns:a16="http://schemas.microsoft.com/office/drawing/2014/main" val="1092618117"/>
                    </a:ext>
                  </a:extLst>
                </a:gridCol>
                <a:gridCol w="1573967">
                  <a:extLst>
                    <a:ext uri="{9D8B030D-6E8A-4147-A177-3AD203B41FA5}">
                      <a16:colId xmlns:a16="http://schemas.microsoft.com/office/drawing/2014/main" val="17718893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BMS Processes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Exec 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8197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BMS_comm_process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500 </a:t>
                      </a:r>
                      <a:r>
                        <a:rPr lang="en-IN" dirty="0" err="1"/>
                        <a:t>ms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01232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BMS_soc_soh_process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500 </a:t>
                      </a:r>
                      <a:r>
                        <a:rPr lang="en-IN" dirty="0" err="1"/>
                        <a:t>ms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4007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BMS_current_limit_process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500 </a:t>
                      </a:r>
                      <a:r>
                        <a:rPr lang="en-IN" dirty="0" err="1"/>
                        <a:t>ms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119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BMS_supervisory_process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100 </a:t>
                      </a:r>
                      <a:r>
                        <a:rPr lang="en-IN" dirty="0" err="1"/>
                        <a:t>ms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7693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BMS_fault_monitor_process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100 </a:t>
                      </a:r>
                      <a:r>
                        <a:rPr lang="en-IN" dirty="0" err="1"/>
                        <a:t>ms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0758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BMS_charger_comm_process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100 </a:t>
                      </a:r>
                      <a:r>
                        <a:rPr lang="en-IN" dirty="0" err="1"/>
                        <a:t>ms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9793763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3F50D7B-BBA0-ADD4-8AAD-32C193BC63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312612"/>
              </p:ext>
            </p:extLst>
          </p:nvPr>
        </p:nvGraphicFramePr>
        <p:xfrm>
          <a:off x="6220918" y="3913294"/>
          <a:ext cx="533649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22492">
                  <a:extLst>
                    <a:ext uri="{9D8B030D-6E8A-4147-A177-3AD203B41FA5}">
                      <a16:colId xmlns:a16="http://schemas.microsoft.com/office/drawing/2014/main" val="1092618117"/>
                    </a:ext>
                  </a:extLst>
                </a:gridCol>
                <a:gridCol w="1514006">
                  <a:extLst>
                    <a:ext uri="{9D8B030D-6E8A-4147-A177-3AD203B41FA5}">
                      <a16:colId xmlns:a16="http://schemas.microsoft.com/office/drawing/2014/main" val="17718893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Driver Processes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Exec 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8197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DRV_digitalIO_process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10 </a:t>
                      </a:r>
                      <a:r>
                        <a:rPr lang="en-IN" dirty="0" err="1"/>
                        <a:t>ms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01232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DRV_analogio_process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10 </a:t>
                      </a:r>
                      <a:r>
                        <a:rPr lang="en-IN" dirty="0" err="1"/>
                        <a:t>ms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762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DRV_uart_RX_intr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Interrupt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870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DRV_can_RX_intr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Interrupt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32528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DRV_sflash_process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025159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8A6C34A-3B96-337C-41FB-FC674F7D46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4660124"/>
              </p:ext>
            </p:extLst>
          </p:nvPr>
        </p:nvGraphicFramePr>
        <p:xfrm>
          <a:off x="314793" y="3920094"/>
          <a:ext cx="533649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7640">
                  <a:extLst>
                    <a:ext uri="{9D8B030D-6E8A-4147-A177-3AD203B41FA5}">
                      <a16:colId xmlns:a16="http://schemas.microsoft.com/office/drawing/2014/main" val="1092618117"/>
                    </a:ext>
                  </a:extLst>
                </a:gridCol>
                <a:gridCol w="1738858">
                  <a:extLst>
                    <a:ext uri="{9D8B030D-6E8A-4147-A177-3AD203B41FA5}">
                      <a16:colId xmlns:a16="http://schemas.microsoft.com/office/drawing/2014/main" val="17718893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VCU Processes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Exec 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8197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VCU_vehicle_control_process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100 </a:t>
                      </a:r>
                      <a:r>
                        <a:rPr lang="en-IN" dirty="0" err="1"/>
                        <a:t>ms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01232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VCU_mcu_comm_process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100 </a:t>
                      </a:r>
                      <a:r>
                        <a:rPr lang="en-IN" dirty="0" err="1"/>
                        <a:t>ms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80748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VCU_supervisory_process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100 </a:t>
                      </a:r>
                      <a:r>
                        <a:rPr lang="en-IN" dirty="0" err="1"/>
                        <a:t>ms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5709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VCU_fault_monitor_process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100 </a:t>
                      </a:r>
                      <a:r>
                        <a:rPr lang="en-IN" dirty="0" err="1"/>
                        <a:t>ms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5873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 err="1"/>
                        <a:t>VCU_telematics_comm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10 sec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97233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09863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6FAB2-FA74-2E7C-7263-D07BF810C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367" y="284813"/>
            <a:ext cx="2859374" cy="6325848"/>
          </a:xfrm>
        </p:spPr>
        <p:txBody>
          <a:bodyPr>
            <a:noAutofit/>
          </a:bodyPr>
          <a:lstStyle/>
          <a:p>
            <a:r>
              <a:rPr lang="en-IN" sz="1400" dirty="0"/>
              <a:t>Inputs Analog Signals</a:t>
            </a:r>
          </a:p>
          <a:p>
            <a:r>
              <a:rPr lang="en-IN" sz="1400" dirty="0"/>
              <a:t> Thro􀆩le Demand</a:t>
            </a:r>
          </a:p>
          <a:p>
            <a:r>
              <a:rPr lang="en-IN" sz="1400" dirty="0"/>
              <a:t> Current (Ba􀆩</a:t>
            </a:r>
            <a:r>
              <a:rPr lang="en-IN" sz="1400" dirty="0" err="1"/>
              <a:t>ery</a:t>
            </a:r>
            <a:r>
              <a:rPr lang="en-IN" sz="1400" dirty="0"/>
              <a:t>)</a:t>
            </a:r>
          </a:p>
          <a:p>
            <a:r>
              <a:rPr lang="en-IN" sz="1400" dirty="0"/>
              <a:t> Load Voltage</a:t>
            </a:r>
          </a:p>
          <a:p>
            <a:r>
              <a:rPr lang="en-IN" sz="1400" dirty="0"/>
              <a:t> Ba􀆩</a:t>
            </a:r>
            <a:r>
              <a:rPr lang="en-IN" sz="1400" dirty="0" err="1"/>
              <a:t>ery</a:t>
            </a:r>
            <a:r>
              <a:rPr lang="en-IN" sz="1400" dirty="0"/>
              <a:t> Voltage</a:t>
            </a:r>
          </a:p>
          <a:p>
            <a:r>
              <a:rPr lang="en-IN" sz="1400" dirty="0"/>
              <a:t> DC -DC Voltage</a:t>
            </a:r>
          </a:p>
          <a:p>
            <a:r>
              <a:rPr lang="en-IN" sz="1400" dirty="0"/>
              <a:t> DC-DC current</a:t>
            </a:r>
          </a:p>
          <a:p>
            <a:r>
              <a:rPr lang="en-IN" sz="1400" dirty="0"/>
              <a:t> BOX open signal</a:t>
            </a:r>
          </a:p>
          <a:p>
            <a:r>
              <a:rPr lang="en-IN" sz="1400" dirty="0"/>
              <a:t> Local Supply Current</a:t>
            </a:r>
          </a:p>
          <a:p>
            <a:r>
              <a:rPr lang="en-IN" sz="1400" dirty="0"/>
              <a:t>Input Digital Signal</a:t>
            </a:r>
          </a:p>
          <a:p>
            <a:r>
              <a:rPr lang="en-IN" sz="1400" dirty="0"/>
              <a:t> Speed</a:t>
            </a:r>
          </a:p>
          <a:p>
            <a:r>
              <a:rPr lang="en-IN" sz="1400" dirty="0"/>
              <a:t> Gear 1</a:t>
            </a:r>
          </a:p>
          <a:p>
            <a:r>
              <a:rPr lang="en-IN" sz="1400" dirty="0"/>
              <a:t> Gear 2</a:t>
            </a:r>
          </a:p>
          <a:p>
            <a:r>
              <a:rPr lang="en-IN" sz="1400" dirty="0"/>
              <a:t> ECO / Boost</a:t>
            </a:r>
          </a:p>
          <a:p>
            <a:r>
              <a:rPr lang="en-IN" sz="1400" dirty="0"/>
              <a:t> Forward / Reverse</a:t>
            </a:r>
          </a:p>
          <a:p>
            <a:r>
              <a:rPr lang="en-IN" sz="1400" dirty="0"/>
              <a:t> Clutch</a:t>
            </a:r>
          </a:p>
          <a:p>
            <a:r>
              <a:rPr lang="en-IN" sz="1400" dirty="0"/>
              <a:t> Brake</a:t>
            </a:r>
          </a:p>
          <a:p>
            <a:r>
              <a:rPr lang="en-IN" sz="1400" dirty="0"/>
              <a:t> Brake Fluid</a:t>
            </a:r>
          </a:p>
          <a:p>
            <a:r>
              <a:rPr lang="en-IN" sz="1400" dirty="0"/>
              <a:t> </a:t>
            </a:r>
            <a:r>
              <a:rPr lang="en-IN" sz="1400" dirty="0" err="1"/>
              <a:t>Igni</a:t>
            </a:r>
            <a:r>
              <a:rPr lang="en-IN" sz="1400" dirty="0"/>
              <a:t>􀆟on</a:t>
            </a:r>
          </a:p>
          <a:p>
            <a:r>
              <a:rPr lang="en-IN" sz="1400" dirty="0"/>
              <a:t> Park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AE9794-B7D9-98DA-1B2B-F06754B4B8D9}"/>
              </a:ext>
            </a:extLst>
          </p:cNvPr>
          <p:cNvSpPr txBox="1">
            <a:spLocks/>
          </p:cNvSpPr>
          <p:nvPr/>
        </p:nvSpPr>
        <p:spPr>
          <a:xfrm>
            <a:off x="3500542" y="284812"/>
            <a:ext cx="3190534" cy="63258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400" dirty="0"/>
              <a:t>Output Signal From VCU</a:t>
            </a:r>
          </a:p>
          <a:p>
            <a:r>
              <a:rPr lang="en-IN" sz="1400" dirty="0"/>
              <a:t> Thro􀆩le</a:t>
            </a:r>
          </a:p>
          <a:p>
            <a:r>
              <a:rPr lang="en-IN" sz="1400" dirty="0"/>
              <a:t> Signal Supply ON</a:t>
            </a:r>
          </a:p>
          <a:p>
            <a:r>
              <a:rPr lang="en-IN" sz="1400" dirty="0"/>
              <a:t> Gear 1 Change</a:t>
            </a:r>
          </a:p>
          <a:p>
            <a:r>
              <a:rPr lang="en-IN" sz="1400" dirty="0"/>
              <a:t> Gear 2 Change</a:t>
            </a:r>
          </a:p>
          <a:p>
            <a:r>
              <a:rPr lang="en-IN" sz="1400" dirty="0"/>
              <a:t> Neutral</a:t>
            </a:r>
          </a:p>
          <a:p>
            <a:r>
              <a:rPr lang="en-IN" sz="1400" dirty="0"/>
              <a:t> Brake Resistor</a:t>
            </a:r>
          </a:p>
          <a:p>
            <a:r>
              <a:rPr lang="en-IN" sz="1400" dirty="0"/>
              <a:t> Fire Alarm</a:t>
            </a:r>
          </a:p>
          <a:p>
            <a:r>
              <a:rPr lang="en-IN" sz="1400" dirty="0"/>
              <a:t> Pre-Charge ON</a:t>
            </a:r>
          </a:p>
          <a:p>
            <a:r>
              <a:rPr lang="en-IN" sz="1400" dirty="0"/>
              <a:t> Contactor ON</a:t>
            </a:r>
          </a:p>
          <a:p>
            <a:r>
              <a:rPr lang="en-IN" sz="1400" dirty="0"/>
              <a:t> Cooling Fan 1 ON</a:t>
            </a:r>
          </a:p>
          <a:p>
            <a:r>
              <a:rPr lang="en-IN" sz="1400" dirty="0"/>
              <a:t> Cooling Fan 2 ON</a:t>
            </a:r>
          </a:p>
          <a:p>
            <a:r>
              <a:rPr lang="en-IN" sz="1400" dirty="0"/>
              <a:t> Fan 3 ON</a:t>
            </a:r>
          </a:p>
          <a:p>
            <a:r>
              <a:rPr lang="en-IN" sz="1400" dirty="0"/>
              <a:t> DC -DC Unit/Board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D66DBD9-39F2-6F62-682C-845E5EBCEBBA}"/>
              </a:ext>
            </a:extLst>
          </p:cNvPr>
          <p:cNvSpPr txBox="1">
            <a:spLocks/>
          </p:cNvSpPr>
          <p:nvPr/>
        </p:nvSpPr>
        <p:spPr>
          <a:xfrm>
            <a:off x="6748877" y="247337"/>
            <a:ext cx="4576997" cy="63258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400" dirty="0"/>
              <a:t> UART</a:t>
            </a:r>
          </a:p>
          <a:p>
            <a:r>
              <a:rPr lang="en-US" sz="1400" dirty="0"/>
              <a:t> CAN (Bus bi-</a:t>
            </a:r>
            <a:r>
              <a:rPr lang="en-US" sz="1400" dirty="0" err="1"/>
              <a:t>direc</a:t>
            </a:r>
            <a:r>
              <a:rPr lang="en-US" sz="1400" dirty="0"/>
              <a:t>􀆟</a:t>
            </a:r>
            <a:r>
              <a:rPr lang="en-US" sz="1400" dirty="0" err="1"/>
              <a:t>onal</a:t>
            </a:r>
            <a:r>
              <a:rPr lang="en-US" sz="1400" dirty="0"/>
              <a:t>) (Input and output through can line and how to generate)</a:t>
            </a:r>
          </a:p>
          <a:p>
            <a:r>
              <a:rPr lang="en-IN" sz="1400" dirty="0"/>
              <a:t> USB</a:t>
            </a:r>
          </a:p>
          <a:p>
            <a:r>
              <a:rPr lang="en-IN" sz="1400" dirty="0"/>
              <a:t> Internal SPI</a:t>
            </a:r>
          </a:p>
          <a:p>
            <a:r>
              <a:rPr lang="en-US" sz="1400" dirty="0"/>
              <a:t> Leakage </a:t>
            </a:r>
            <a:r>
              <a:rPr lang="en-US" sz="1400" dirty="0" err="1"/>
              <a:t>detec</a:t>
            </a:r>
            <a:r>
              <a:rPr lang="en-US" sz="1400" dirty="0"/>
              <a:t>􀆟on (Only if double pole contactor or two relays are used)</a:t>
            </a:r>
          </a:p>
          <a:p>
            <a:r>
              <a:rPr lang="en-US" sz="1400" dirty="0"/>
              <a:t> Brake Fluid Low Signal to be provided (Digital Out) to have an indica􀆟on to driver and to have a</a:t>
            </a:r>
          </a:p>
          <a:p>
            <a:r>
              <a:rPr lang="en-US" sz="1400" dirty="0"/>
              <a:t>no􀆟</a:t>
            </a:r>
            <a:r>
              <a:rPr lang="en-US" sz="1400" dirty="0" err="1"/>
              <a:t>fica</a:t>
            </a:r>
            <a:r>
              <a:rPr lang="en-US" sz="1400" dirty="0"/>
              <a:t>􀆟on to the server.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29508355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A366236-291B-9F75-FCA6-B3B00AE2F1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4081" y="1024084"/>
            <a:ext cx="5863837" cy="480983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BA1050-D466-B71E-E033-F01225F9A95F}"/>
              </a:ext>
            </a:extLst>
          </p:cNvPr>
          <p:cNvSpPr txBox="1"/>
          <p:nvPr/>
        </p:nvSpPr>
        <p:spPr>
          <a:xfrm>
            <a:off x="1307892" y="482396"/>
            <a:ext cx="6093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IN" b="1" dirty="0">
                <a:solidFill>
                  <a:srgbClr val="FF0000"/>
                </a:solidFill>
              </a:rPr>
              <a:t>TO-DO : Mapping of the hardware IOs with chip pins</a:t>
            </a:r>
          </a:p>
        </p:txBody>
      </p:sp>
    </p:spTree>
    <p:extLst>
      <p:ext uri="{BB962C8B-B14F-4D97-AF65-F5344CB8AC3E}">
        <p14:creationId xmlns:p14="http://schemas.microsoft.com/office/powerpoint/2010/main" val="30898741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A33C4CB-7E38-8412-EF6B-6A8600C50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494675"/>
            <a:ext cx="3943662" cy="5981076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IN" dirty="0"/>
              <a:t>List of Faults</a:t>
            </a:r>
          </a:p>
          <a:p>
            <a:pPr lvl="1"/>
            <a:r>
              <a:rPr lang="en-IN" dirty="0"/>
              <a:t>BMS</a:t>
            </a:r>
          </a:p>
          <a:p>
            <a:pPr marL="914400" lvl="2" indent="0">
              <a:buNone/>
            </a:pPr>
            <a:r>
              <a:rPr lang="en-IN" dirty="0"/>
              <a:t>Cell OV 1</a:t>
            </a:r>
          </a:p>
          <a:p>
            <a:pPr marL="914400" lvl="2" indent="0">
              <a:buNone/>
            </a:pPr>
            <a:r>
              <a:rPr lang="en-IN" dirty="0"/>
              <a:t>Cell OV 2</a:t>
            </a:r>
          </a:p>
          <a:p>
            <a:pPr marL="914400" lvl="2" indent="0">
              <a:buNone/>
            </a:pPr>
            <a:r>
              <a:rPr lang="en-IN" dirty="0"/>
              <a:t>Cell UV</a:t>
            </a:r>
          </a:p>
          <a:p>
            <a:pPr marL="914400" lvl="2" indent="0">
              <a:buNone/>
            </a:pPr>
            <a:r>
              <a:rPr lang="en-IN" dirty="0"/>
              <a:t>Pack OV</a:t>
            </a:r>
          </a:p>
          <a:p>
            <a:pPr marL="914400" lvl="2" indent="0">
              <a:buNone/>
            </a:pPr>
            <a:r>
              <a:rPr lang="en-IN" dirty="0"/>
              <a:t>Pack UV </a:t>
            </a:r>
          </a:p>
          <a:p>
            <a:pPr marL="914400" lvl="2" indent="0">
              <a:buNone/>
            </a:pPr>
            <a:r>
              <a:rPr lang="en-IN" dirty="0"/>
              <a:t>Charge Over Current</a:t>
            </a:r>
          </a:p>
          <a:p>
            <a:pPr marL="914400" lvl="2" indent="0">
              <a:buNone/>
            </a:pPr>
            <a:r>
              <a:rPr lang="en-IN" dirty="0"/>
              <a:t>Discharge Over Current</a:t>
            </a:r>
          </a:p>
          <a:p>
            <a:pPr marL="914400" lvl="2" indent="0">
              <a:buNone/>
            </a:pPr>
            <a:r>
              <a:rPr lang="en-IN" dirty="0"/>
              <a:t>Battery Over Voltage</a:t>
            </a:r>
          </a:p>
          <a:p>
            <a:pPr marL="914400" lvl="2" indent="0">
              <a:buNone/>
            </a:pPr>
            <a:r>
              <a:rPr lang="en-IN" dirty="0"/>
              <a:t>Battery Under Voltage</a:t>
            </a:r>
          </a:p>
          <a:p>
            <a:pPr marL="914400" lvl="2" indent="0">
              <a:buNone/>
            </a:pPr>
            <a:r>
              <a:rPr lang="en-IN" dirty="0"/>
              <a:t>Over Temp</a:t>
            </a:r>
          </a:p>
          <a:p>
            <a:pPr marL="914400" lvl="2" indent="0">
              <a:buNone/>
            </a:pPr>
            <a:r>
              <a:rPr lang="en-IN" dirty="0"/>
              <a:t>Under Temp</a:t>
            </a:r>
          </a:p>
          <a:p>
            <a:pPr marL="914400" lvl="2" indent="0">
              <a:buNone/>
            </a:pPr>
            <a:r>
              <a:rPr lang="en-IN" dirty="0"/>
              <a:t>BMS Comm Fault</a:t>
            </a:r>
          </a:p>
          <a:p>
            <a:pPr marL="914400" lvl="2" indent="0">
              <a:buNone/>
            </a:pPr>
            <a:r>
              <a:rPr lang="en-IN" dirty="0"/>
              <a:t>Current Sensor Fault</a:t>
            </a:r>
          </a:p>
          <a:p>
            <a:pPr marL="914400" lvl="2" indent="0">
              <a:buNone/>
            </a:pPr>
            <a:r>
              <a:rPr lang="en-IN" dirty="0"/>
              <a:t>Thermal Runaway</a:t>
            </a:r>
          </a:p>
          <a:p>
            <a:pPr marL="914400" lvl="2" indent="0">
              <a:buNone/>
            </a:pPr>
            <a:r>
              <a:rPr lang="en-IN" dirty="0"/>
              <a:t>Unauthorized charger fault</a:t>
            </a:r>
          </a:p>
          <a:p>
            <a:pPr marL="914400" lvl="2" indent="0">
              <a:buNone/>
            </a:pPr>
            <a:r>
              <a:rPr lang="en-IN" dirty="0"/>
              <a:t>Electrical Leakage fault</a:t>
            </a:r>
          </a:p>
          <a:p>
            <a:pPr marL="914400" lvl="2" indent="0">
              <a:buNone/>
            </a:pPr>
            <a:r>
              <a:rPr lang="en-IN" dirty="0"/>
              <a:t>Contactor Fault</a:t>
            </a:r>
          </a:p>
          <a:p>
            <a:pPr marL="914400" lvl="2" indent="0">
              <a:buNone/>
            </a:pPr>
            <a:r>
              <a:rPr lang="en-IN" dirty="0"/>
              <a:t>Cell Imbalance Warning</a:t>
            </a:r>
          </a:p>
          <a:p>
            <a:pPr marL="914400" lvl="2" indent="0">
              <a:buNone/>
            </a:pPr>
            <a:r>
              <a:rPr lang="en-IN" dirty="0"/>
              <a:t>Open Wire Fault</a:t>
            </a:r>
          </a:p>
          <a:p>
            <a:pPr marL="914400" lvl="2" indent="0">
              <a:buNone/>
            </a:pPr>
            <a:r>
              <a:rPr lang="en-IN" dirty="0"/>
              <a:t>Partial Charge Warning</a:t>
            </a:r>
          </a:p>
          <a:p>
            <a:pPr marL="914400" lvl="2" indent="0">
              <a:buNone/>
            </a:pPr>
            <a:r>
              <a:rPr lang="en-IN" dirty="0"/>
              <a:t>Thermistor Warning/Disable</a:t>
            </a:r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4A6CF36-4ADC-5F38-586B-34CA2C56C9CB}"/>
              </a:ext>
            </a:extLst>
          </p:cNvPr>
          <p:cNvSpPr txBox="1">
            <a:spLocks/>
          </p:cNvSpPr>
          <p:nvPr/>
        </p:nvSpPr>
        <p:spPr>
          <a:xfrm>
            <a:off x="5067925" y="494675"/>
            <a:ext cx="3943662" cy="59810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/>
            </a:lvl1pPr>
            <a:lvl2pPr marL="685800" lvl="1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lvl="2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457200" lvl="1" indent="0">
              <a:buNone/>
            </a:pPr>
            <a:r>
              <a:rPr lang="en-IN" dirty="0"/>
              <a:t>List of Faults</a:t>
            </a:r>
          </a:p>
          <a:p>
            <a:pPr lvl="2"/>
            <a:r>
              <a:rPr lang="en-IN" dirty="0"/>
              <a:t>VCU</a:t>
            </a:r>
          </a:p>
          <a:p>
            <a:pPr lvl="3"/>
            <a:r>
              <a:rPr lang="en-IN" dirty="0" err="1"/>
              <a:t>Precharge</a:t>
            </a:r>
            <a:r>
              <a:rPr lang="en-IN" dirty="0"/>
              <a:t> Fault</a:t>
            </a:r>
          </a:p>
          <a:p>
            <a:pPr lvl="3"/>
            <a:r>
              <a:rPr lang="en-IN" dirty="0"/>
              <a:t>Input Voltage Fault</a:t>
            </a:r>
          </a:p>
          <a:p>
            <a:pPr lvl="3"/>
            <a:r>
              <a:rPr lang="en-IN" dirty="0"/>
              <a:t>Controller Fault</a:t>
            </a:r>
          </a:p>
          <a:p>
            <a:pPr lvl="3"/>
            <a:r>
              <a:rPr lang="en-IN" dirty="0"/>
              <a:t>DC-DC Fault</a:t>
            </a:r>
          </a:p>
          <a:p>
            <a:pPr lvl="3"/>
            <a:r>
              <a:rPr lang="en-IN" dirty="0"/>
              <a:t>Aux OC fault</a:t>
            </a:r>
          </a:p>
          <a:p>
            <a:pPr lvl="3"/>
            <a:r>
              <a:rPr lang="en-IN" dirty="0"/>
              <a:t>Brake Fluid Low Fault</a:t>
            </a:r>
          </a:p>
          <a:p>
            <a:pPr lvl="3"/>
            <a:r>
              <a:rPr lang="en-IN" dirty="0"/>
              <a:t>Throttle sense Fault</a:t>
            </a:r>
          </a:p>
          <a:p>
            <a:pPr lvl="3"/>
            <a:r>
              <a:rPr lang="en-IN" dirty="0"/>
              <a:t>Brake sense Fault</a:t>
            </a:r>
          </a:p>
          <a:p>
            <a:pPr lvl="3"/>
            <a:r>
              <a:rPr lang="en-IN" dirty="0"/>
              <a:t>BMS comm Fault</a:t>
            </a:r>
          </a:p>
          <a:p>
            <a:pPr lvl="3"/>
            <a:r>
              <a:rPr lang="en-IN" dirty="0"/>
              <a:t>MCU Fault</a:t>
            </a:r>
          </a:p>
          <a:p>
            <a:pPr lvl="3"/>
            <a:r>
              <a:rPr lang="en-IN" dirty="0"/>
              <a:t>MCU comm Fault</a:t>
            </a:r>
          </a:p>
          <a:p>
            <a:pPr lvl="3"/>
            <a:r>
              <a:rPr lang="en-IN" dirty="0"/>
              <a:t>Brake resistor Fault</a:t>
            </a:r>
          </a:p>
          <a:p>
            <a:pPr lvl="3"/>
            <a:r>
              <a:rPr lang="en-IN" dirty="0"/>
              <a:t>Over load fault</a:t>
            </a:r>
          </a:p>
          <a:p>
            <a:pPr lvl="3"/>
            <a:r>
              <a:rPr lang="en-IN" dirty="0"/>
              <a:t>Speed sense fault/Over speed fault</a:t>
            </a:r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04017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275BDC9-5B21-CC9F-0B18-D01C2F35B9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94675"/>
            <a:ext cx="10719215" cy="38974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dirty="0"/>
              <a:t>Decision making for VCU,HW/</a:t>
            </a:r>
            <a:r>
              <a:rPr lang="en-IN" dirty="0" err="1"/>
              <a:t>fw</a:t>
            </a:r>
            <a:r>
              <a:rPr lang="en-IN" dirty="0"/>
              <a:t>/system</a:t>
            </a:r>
          </a:p>
          <a:p>
            <a:pPr marL="0" indent="0">
              <a:buNone/>
            </a:pPr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DCF22DB-5177-F83D-D28E-B4CB4E676F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43769"/>
              </p:ext>
            </p:extLst>
          </p:nvPr>
        </p:nvGraphicFramePr>
        <p:xfrm>
          <a:off x="838199" y="1004479"/>
          <a:ext cx="10719216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9804">
                  <a:extLst>
                    <a:ext uri="{9D8B030D-6E8A-4147-A177-3AD203B41FA5}">
                      <a16:colId xmlns:a16="http://schemas.microsoft.com/office/drawing/2014/main" val="3733853454"/>
                    </a:ext>
                  </a:extLst>
                </a:gridCol>
                <a:gridCol w="2679804">
                  <a:extLst>
                    <a:ext uri="{9D8B030D-6E8A-4147-A177-3AD203B41FA5}">
                      <a16:colId xmlns:a16="http://schemas.microsoft.com/office/drawing/2014/main" val="372036810"/>
                    </a:ext>
                  </a:extLst>
                </a:gridCol>
                <a:gridCol w="2679804">
                  <a:extLst>
                    <a:ext uri="{9D8B030D-6E8A-4147-A177-3AD203B41FA5}">
                      <a16:colId xmlns:a16="http://schemas.microsoft.com/office/drawing/2014/main" val="625180725"/>
                    </a:ext>
                  </a:extLst>
                </a:gridCol>
                <a:gridCol w="2679804">
                  <a:extLst>
                    <a:ext uri="{9D8B030D-6E8A-4147-A177-3AD203B41FA5}">
                      <a16:colId xmlns:a16="http://schemas.microsoft.com/office/drawing/2014/main" val="37618779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Fault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Reason/Condition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Action/Decision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Remarks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3448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ctr">
                        <a:buClr>
                          <a:srgbClr val="000000"/>
                        </a:buClr>
                        <a:buSzPts val="1700"/>
                        <a:buFont typeface="Aptos" panose="020B0004020202020204" pitchFamily="34" charset="0"/>
                        <a:buChar char="C"/>
                      </a:pP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1114425" marR="9525" marT="9525" marB="0" anchor="ctr"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3247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ctr">
                        <a:buClr>
                          <a:srgbClr val="000000"/>
                        </a:buClr>
                        <a:buSzPts val="1700"/>
                        <a:buFont typeface="Arial" panose="020B0604020202020204" pitchFamily="34" charset="0"/>
                        <a:buNone/>
                      </a:pP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14425" marR="9525" marT="9525" marB="0" anchor="ctr"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0171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ctr">
                        <a:buClr>
                          <a:srgbClr val="000000"/>
                        </a:buClr>
                        <a:buSzPts val="1700"/>
                        <a:buFont typeface="Arial" panose="020B0604020202020204" pitchFamily="34" charset="0"/>
                        <a:buNone/>
                      </a:pP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14425" marR="9525" marT="9525" marB="0" anchor="ctr"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8515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ctr">
                        <a:buClr>
                          <a:srgbClr val="000000"/>
                        </a:buClr>
                        <a:buSzPts val="1700"/>
                        <a:buFont typeface="Arial" panose="020B0604020202020204" pitchFamily="34" charset="0"/>
                        <a:buChar char="•"/>
                      </a:pP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14425" marR="9525" marT="9525" marB="0" anchor="ctr"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48354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ctr">
                        <a:buClr>
                          <a:srgbClr val="000000"/>
                        </a:buClr>
                        <a:buSzPts val="1700"/>
                        <a:buFont typeface="Arial" panose="020B0604020202020204" pitchFamily="34" charset="0"/>
                        <a:buChar char="•"/>
                      </a:pP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14425" marR="9525" marT="9525" marB="0" anchor="ctr"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1275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ctr">
                        <a:buClr>
                          <a:srgbClr val="000000"/>
                        </a:buClr>
                        <a:buSzPts val="1700"/>
                        <a:buFont typeface="Arial" panose="020B0604020202020204" pitchFamily="34" charset="0"/>
                        <a:buChar char="•"/>
                      </a:pP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14425" marR="9525" marT="9525" marB="0" anchor="ctr"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553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ctr">
                        <a:buClr>
                          <a:srgbClr val="000000"/>
                        </a:buClr>
                        <a:buSzPts val="1700"/>
                        <a:buFont typeface="Arial" panose="020B0604020202020204" pitchFamily="34" charset="0"/>
                        <a:buChar char="•"/>
                      </a:pP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14425" marR="9525" marT="9525" marB="0" anchor="ctr"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20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ctr">
                        <a:buClr>
                          <a:srgbClr val="000000"/>
                        </a:buClr>
                        <a:buSzPts val="1700"/>
                        <a:buFont typeface="Arial" panose="020B0604020202020204" pitchFamily="34" charset="0"/>
                        <a:buChar char="•"/>
                      </a:pP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14425" marR="9525" marT="9525" marB="0" anchor="ctr"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349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ctr">
                        <a:buClr>
                          <a:srgbClr val="000000"/>
                        </a:buClr>
                        <a:buSzPts val="1700"/>
                        <a:buFont typeface="Arial" panose="020B0604020202020204" pitchFamily="34" charset="0"/>
                        <a:buChar char="•"/>
                      </a:pPr>
                      <a:endParaRPr lang="en-IN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114425" marR="9525" marT="9525" marB="0" anchor="ctr"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8931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ctr">
                        <a:buClr>
                          <a:srgbClr val="000000"/>
                        </a:buClr>
                        <a:buSzPts val="1700"/>
                        <a:buFont typeface="Arial" panose="020B0604020202020204" pitchFamily="34" charset="0"/>
                        <a:buChar char="•"/>
                      </a:pP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14425" marR="9525" marT="9525" marB="0" anchor="ctr"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79929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rtl="0" fontAlgn="ctr">
                        <a:buClr>
                          <a:srgbClr val="000000"/>
                        </a:buClr>
                        <a:buSzPts val="1700"/>
                        <a:buFont typeface="Arial" panose="020B0604020202020204" pitchFamily="34" charset="0"/>
                        <a:buChar char="•"/>
                      </a:pP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14425" marR="9525" marT="9525" marB="0" anchor="ctr"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47698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14045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35860</TotalTime>
  <Words>1096</Words>
  <Application>Microsoft Office PowerPoint</Application>
  <PresentationFormat>Widescreen</PresentationFormat>
  <Paragraphs>468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Grevol VCU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Prathamesh Patki</dc:creator>
  <cp:lastModifiedBy>Prathamesh Patki</cp:lastModifiedBy>
  <cp:revision>86</cp:revision>
  <dcterms:created xsi:type="dcterms:W3CDTF">2025-08-09T11:44:04Z</dcterms:created>
  <dcterms:modified xsi:type="dcterms:W3CDTF">2025-10-08T04:17:46Z</dcterms:modified>
</cp:coreProperties>
</file>